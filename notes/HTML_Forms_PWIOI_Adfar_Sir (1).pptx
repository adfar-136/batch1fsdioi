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5" name="Google Shape;95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" name="Google Shape;98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" name="Google Shape;100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6" name="Google Shape;103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1" name="Google Shape;106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6" name="Google Shape;108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" name="Google Shape;112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0" name="Google Shape;115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5" name="Google Shape;117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5" name="Google Shape;119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4" name="Google Shape;122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9" name="Google Shape;124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5" name="Google Shape;128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0" name="Google Shape;131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0" name="Google Shape;134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6" name="Google Shape;136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0" name="Google Shape;139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7" name="Google Shape;141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5" name="Google Shape;1455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0" name="Google Shape;148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2" name="Google Shape;151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6" name="Google Shape;153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7" name="Google Shape;156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2" name="Google Shape;1592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2" name="Google Shape;1612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9" name="Google Shape;1639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8" name="Google Shape;166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6" name="Google Shape;1696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2" name="Google Shape;172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0" name="Google Shape;1750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4" name="Google Shape;1794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02920" y="6492240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PW IOI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9875520" y="6492240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@adfarsirofficial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658368" y="566928"/>
            <a:ext cx="1353312" cy="301752"/>
          </a:xfrm>
          <a:prstGeom prst="roundRect">
            <a:avLst>
              <a:gd fmla="val 24242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704088" y="617220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· FORMS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658368" y="1298448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 Forms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76656" y="2057400"/>
            <a:ext cx="6126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From basic form structure to inputs, submission, validation and form controls.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7178040" y="1024128"/>
            <a:ext cx="4160520" cy="4434840"/>
          </a:xfrm>
          <a:prstGeom prst="roundRect">
            <a:avLst>
              <a:gd fmla="val 175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424928" y="1353312"/>
            <a:ext cx="3675888" cy="3584448"/>
          </a:xfrm>
          <a:prstGeom prst="roundRect">
            <a:avLst>
              <a:gd fmla="val 153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424928" y="1353312"/>
            <a:ext cx="3675888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7552944" y="1508760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7754112" y="1508760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955280" y="1508760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202168" y="1444752"/>
            <a:ext cx="2706624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293608" y="1499616"/>
            <a:ext cx="248716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717536" y="201168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 Registration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717536" y="2340864"/>
            <a:ext cx="30815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717536" y="2596896"/>
            <a:ext cx="3090672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818120" y="2697480"/>
            <a:ext cx="2852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Enter your name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717536" y="3108960"/>
            <a:ext cx="30815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717536" y="3364992"/>
            <a:ext cx="3090672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7818120" y="3465576"/>
            <a:ext cx="2852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you@example.com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717536" y="3877056"/>
            <a:ext cx="1234440" cy="365760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7790688" y="3968496"/>
            <a:ext cx="10881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85800" y="52578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PW IOI  •  Adfar Sir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85800" y="560527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Lecture-ready visual deck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Do We Need Forms?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Forms are how users send information from a web page.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786384" y="1399032"/>
            <a:ext cx="4690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form creates an interactive area where a user can enter, choose or submit information. Forms are used whenever a website needs input from the user.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Login and signup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Search and filters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Contact and feedback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Checkout and registration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&lt;!-- form controls go here --&gt;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163056" y="1892808"/>
            <a:ext cx="5157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Common form examples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163056" y="2221992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163056" y="2478024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263640" y="2578608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Search products...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163056" y="2990088"/>
            <a:ext cx="1097280" cy="365760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236208" y="3081528"/>
            <a:ext cx="9509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126480" y="3493008"/>
            <a:ext cx="5230368" cy="475488"/>
          </a:xfrm>
          <a:prstGeom prst="roundRect">
            <a:avLst>
              <a:gd fmla="val 5769" name="adj"/>
            </a:avLst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254496" y="3593592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browser UI is created by HTML form controls.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&lt;form&gt; vs &lt;div&gt;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Both can contain elements, but they have different responsibilities.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66928" y="1234440"/>
            <a:ext cx="5486400" cy="4553712"/>
          </a:xfrm>
          <a:prstGeom prst="roundRect">
            <a:avLst>
              <a:gd fmla="val 160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66928" y="1234440"/>
            <a:ext cx="73152" cy="455371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786384" y="1399032"/>
            <a:ext cx="5102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&lt;div&gt; — generic container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68680" y="1719072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&lt;div&gt; groups content for layout or organisation. By itself, it has no form-submission behaviour.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868680" y="2788920"/>
            <a:ext cx="4846320" cy="1554480"/>
          </a:xfrm>
          <a:prstGeom prst="roundRect">
            <a:avLst>
              <a:gd fmla="val 3529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1033272" y="289864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033272" y="3154680"/>
            <a:ext cx="4517136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&lt;input type="text"&gt;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&lt;button&gt;Save&lt;/button&gt;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236208" y="1234440"/>
            <a:ext cx="5376672" cy="4553712"/>
          </a:xfrm>
          <a:prstGeom prst="roundRect">
            <a:avLst>
              <a:gd fmla="val 160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236208" y="1234440"/>
            <a:ext cx="73152" cy="4553712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455664" y="1399032"/>
            <a:ext cx="4992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&lt;form&gt; — submission container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537960" y="1719072"/>
            <a:ext cx="4709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&lt;form&gt; groups form controls and defines how their values should be submitted using attributes such as action and method.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537960" y="2788920"/>
            <a:ext cx="4709160" cy="1554480"/>
          </a:xfrm>
          <a:prstGeom prst="roundRect">
            <a:avLst>
              <a:gd fmla="val 3529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6702552" y="289864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702552" y="3154680"/>
            <a:ext cx="4379976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&lt;input name="student"&gt;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&lt;button type="submit"&gt;Save&lt;/button&gt;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057400" y="5532120"/>
            <a:ext cx="8092440" cy="548640"/>
          </a:xfrm>
          <a:prstGeom prst="roundRect">
            <a:avLst>
              <a:gd fmla="val 1333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2057400" y="5532120"/>
            <a:ext cx="73152" cy="54864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2331720" y="5687568"/>
            <a:ext cx="7589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30"/>
              <a:buFont typeface="Arial"/>
              <a:buNone/>
            </a:pPr>
            <a:r>
              <a:rPr b="1" i="0" lang="en-US" sz="15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Same-looking UI ≠ same behaviour. &lt;form&gt; participates in form submission; &lt;div&gt; does not.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&lt;form&gt; Element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container that defines a form submission.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786384" y="1399032"/>
            <a:ext cx="4690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&lt;form&gt; element wraps controls such as inputs, select boxes and buttons. Its attributes tell the browser where the data should go and which HTTP method should be used.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Opening and closing tag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Can contain many controls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Usually contains a submit button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&lt;form action="result.html" method="get"&gt;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&lt;input type="text" name="student"&gt;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&lt;button type="submit"&gt;Submit&lt;/button&gt;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 name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163056" y="2148840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263640" y="2249424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Enter your name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163056" y="2660904"/>
            <a:ext cx="1143000" cy="365760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236208" y="2752344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126480" y="3163824"/>
            <a:ext cx="5230368" cy="475488"/>
          </a:xfrm>
          <a:prstGeom prst="roundRect">
            <a:avLst>
              <a:gd fmla="val 5769" name="adj"/>
            </a:avLst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254496" y="3264408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browser collects successful controls when Submit is clicked.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Form Submission Works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browser does more than simply “move to another page”.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40080" y="1828800"/>
            <a:ext cx="1874520" cy="2011680"/>
          </a:xfrm>
          <a:prstGeom prst="roundRect">
            <a:avLst>
              <a:gd fmla="val 3415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1307592" y="2075688"/>
            <a:ext cx="502920" cy="50292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1399032" y="21762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41248" y="2880360"/>
            <a:ext cx="14813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User enters data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2542032" y="26060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926080" y="1828800"/>
            <a:ext cx="1874520" cy="2011680"/>
          </a:xfrm>
          <a:prstGeom prst="roundRect">
            <a:avLst>
              <a:gd fmla="val 3415" name="adj"/>
            </a:avLst>
          </a:prstGeom>
          <a:solidFill>
            <a:srgbClr val="EDE9FE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3593592" y="2075688"/>
            <a:ext cx="502920" cy="502920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3685032" y="21762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127248" y="2880360"/>
            <a:ext cx="14813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Browser collects named controls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828032" y="26060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212080" y="1828800"/>
            <a:ext cx="1874520" cy="2011680"/>
          </a:xfrm>
          <a:prstGeom prst="roundRect">
            <a:avLst>
              <a:gd fmla="val 3415" name="adj"/>
            </a:avLst>
          </a:prstGeom>
          <a:solidFill>
            <a:srgbClr val="FFEDD5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5879592" y="2075688"/>
            <a:ext cx="502920" cy="502920"/>
          </a:xfrm>
          <a:prstGeom prst="ellipse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971032" y="21762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413248" y="2880360"/>
            <a:ext cx="14813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Browser creates HTTP request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114032" y="26060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498080" y="1828800"/>
            <a:ext cx="1874520" cy="2011680"/>
          </a:xfrm>
          <a:prstGeom prst="roundRect">
            <a:avLst>
              <a:gd fmla="val 3415" name="adj"/>
            </a:avLst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8165592" y="2075688"/>
            <a:ext cx="502920" cy="502920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8257032" y="21762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7699248" y="2880360"/>
            <a:ext cx="14813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Request reaches target URL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9400032" y="26060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9784080" y="1828800"/>
            <a:ext cx="1874520" cy="2011680"/>
          </a:xfrm>
          <a:prstGeom prst="roundRect">
            <a:avLst>
              <a:gd fmla="val 3415" name="adj"/>
            </a:avLst>
          </a:prstGeom>
          <a:solidFill>
            <a:srgbClr val="CFFAF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10451592" y="2075688"/>
            <a:ext cx="502920" cy="5029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10543032" y="21762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9985248" y="2880360"/>
            <a:ext cx="14813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Server may return a response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572768" y="4434840"/>
            <a:ext cx="90982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1572768" y="4434840"/>
            <a:ext cx="73152" cy="96012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792224" y="4599432"/>
            <a:ext cx="8714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students should remember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874520" y="4828032"/>
            <a:ext cx="8549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HTML defines the form and tells the browser how to submit it. The backend/server is responsible for processing a request when server-side processing is needed.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Request–Response Cycle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Client and server communicate through HTTP.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822960" y="1417320"/>
            <a:ext cx="2971800" cy="3337560"/>
          </a:xfrm>
          <a:prstGeom prst="roundRect">
            <a:avLst>
              <a:gd fmla="val 246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822960" y="1417320"/>
            <a:ext cx="73152" cy="33375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1042416" y="1581912"/>
            <a:ext cx="2587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CLIENT / BROWSER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115568" y="1965960"/>
            <a:ext cx="2423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browser displays the page, collects form values and creates the HTTP request.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366760" y="1417320"/>
            <a:ext cx="2971800" cy="3337560"/>
          </a:xfrm>
          <a:prstGeom prst="roundRect">
            <a:avLst>
              <a:gd fmla="val 246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8366760" y="1417320"/>
            <a:ext cx="73152" cy="333756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8586216" y="1581912"/>
            <a:ext cx="2587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8668512" y="1965960"/>
            <a:ext cx="2423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server receives the request, may process data, and sends an HTTP response.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069080" y="19659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HTTP REQUEST  →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069080" y="32461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←  HTTP RESPONSE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2194560" y="5166360"/>
            <a:ext cx="7818120" cy="713232"/>
          </a:xfrm>
          <a:prstGeom prst="roundRect">
            <a:avLst>
              <a:gd fmla="val 10256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2194560" y="5166360"/>
            <a:ext cx="73152" cy="71323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2496312" y="5404104"/>
            <a:ext cx="7242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Database access is a server-side detail. GET does not mean “get from database”.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Core &lt;form&gt; Attributes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Each attribute has a different job.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960120" y="1325880"/>
            <a:ext cx="10149840" cy="713232"/>
          </a:xfrm>
          <a:prstGeom prst="roundRect">
            <a:avLst>
              <a:gd fmla="val 10256" name="adj"/>
            </a:avLst>
          </a:prstGeom>
          <a:solidFill>
            <a:srgbClr val="DBEA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960120" y="1325880"/>
            <a:ext cx="73152" cy="7132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1234440" y="1545336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2331720" y="1527048"/>
            <a:ext cx="8183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Unique identifier inside the page.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960120" y="2240280"/>
            <a:ext cx="10149840" cy="713232"/>
          </a:xfrm>
          <a:prstGeom prst="roundRect">
            <a:avLst>
              <a:gd fmla="val 10256" name="adj"/>
            </a:avLst>
          </a:prstGeom>
          <a:solidFill>
            <a:srgbClr val="D1FAE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960120" y="2240280"/>
            <a:ext cx="73152" cy="71323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1234440" y="2459736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331720" y="2441448"/>
            <a:ext cx="8183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Gives the form itself a name when needed.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960120" y="3154680"/>
            <a:ext cx="10149840" cy="713232"/>
          </a:xfrm>
          <a:prstGeom prst="roundRect">
            <a:avLst>
              <a:gd fmla="val 10256" name="adj"/>
            </a:avLst>
          </a:prstGeom>
          <a:solidFill>
            <a:srgbClr val="CFFA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960120" y="3154680"/>
            <a:ext cx="73152" cy="71323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1234440" y="3374136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2331720" y="3355848"/>
            <a:ext cx="8183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Groups elements for CSS or JavaScript.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960120" y="4069080"/>
            <a:ext cx="10149840" cy="713232"/>
          </a:xfrm>
          <a:prstGeom prst="roundRect">
            <a:avLst>
              <a:gd fmla="val 10256" name="adj"/>
            </a:avLst>
          </a:prstGeom>
          <a:solidFill>
            <a:srgbClr val="FFEDD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960120" y="4069080"/>
            <a:ext cx="73152" cy="713232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1234440" y="4288536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2331720" y="4270248"/>
            <a:ext cx="8183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Target URL that receives the submission.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960120" y="4983480"/>
            <a:ext cx="10149840" cy="713232"/>
          </a:xfrm>
          <a:prstGeom prst="roundRect">
            <a:avLst>
              <a:gd fmla="val 10256" name="adj"/>
            </a:avLst>
          </a:prstGeom>
          <a:solidFill>
            <a:srgbClr val="EDE9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960120" y="4983480"/>
            <a:ext cx="73152" cy="713232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1234440" y="5202936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2331720" y="5184648"/>
            <a:ext cx="8183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HTTP method used for submission: usually GET or POST.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action Attribute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action through code and browser behaviour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66928" y="1234440"/>
            <a:ext cx="51663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566928" y="1234440"/>
            <a:ext cx="73152" cy="187452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786384" y="1399032"/>
            <a:ext cx="4782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859536" y="1682496"/>
            <a:ext cx="459028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action attribute specifies the URL that should receive the form submission. It can point to another page or to a server endpoint. If action is omitted, the form submits to the current document URL.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66928" y="3310128"/>
            <a:ext cx="5166360" cy="2148840"/>
          </a:xfrm>
          <a:prstGeom prst="roundRect">
            <a:avLst>
              <a:gd fmla="val 255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731520" y="341985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731520" y="3675888"/>
            <a:ext cx="4837176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&lt;form action="result.html" method="get"&gt;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961888" y="1234440"/>
            <a:ext cx="5650992" cy="4206240"/>
          </a:xfrm>
          <a:prstGeom prst="roundRect">
            <a:avLst>
              <a:gd fmla="val 130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5961888" y="1234440"/>
            <a:ext cx="565099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608990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629107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649224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6739128" y="1325880"/>
            <a:ext cx="468172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6830568" y="1380744"/>
            <a:ext cx="44622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217920" y="1892808"/>
            <a:ext cx="5138928" cy="475488"/>
          </a:xfrm>
          <a:prstGeom prst="roundRect">
            <a:avLst>
              <a:gd fmla="val 5769" name="adj"/>
            </a:avLst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6345936" y="1993392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Before submit: localhost:5500/forms.html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217920" y="2478024"/>
            <a:ext cx="5138928" cy="475488"/>
          </a:xfrm>
          <a:prstGeom prst="roundRect">
            <a:avLst>
              <a:gd fmla="val 5769" name="adj"/>
            </a:avLst>
          </a:prstGeom>
          <a:solidFill>
            <a:srgbClr val="D1FAE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6345936" y="2578608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After submit: localhost:5500/result.html?...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961888" y="5577840"/>
            <a:ext cx="5650992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5961888" y="5577840"/>
            <a:ext cx="73152" cy="566928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217920" y="5733288"/>
            <a:ext cx="5138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action = where the browser sends the form submission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method Attribute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method through code and browser behaviour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566928" y="1234440"/>
            <a:ext cx="51663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566928" y="1234440"/>
            <a:ext cx="73152" cy="187452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786384" y="1399032"/>
            <a:ext cx="4782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859536" y="1682496"/>
            <a:ext cx="459028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method attribute tells the browser which HTTP method to use for the form submission. For standard HTML forms, the most common values are GET and POST.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566928" y="3310128"/>
            <a:ext cx="5166360" cy="2148840"/>
          </a:xfrm>
          <a:prstGeom prst="roundRect">
            <a:avLst>
              <a:gd fmla="val 255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731520" y="341985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731520" y="3675888"/>
            <a:ext cx="4837176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method="get"&gt; ... &lt;/form&gt;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t/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method="post"&gt; ... &lt;/form&gt;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5961888" y="1234440"/>
            <a:ext cx="5650992" cy="4206240"/>
          </a:xfrm>
          <a:prstGeom prst="roundRect">
            <a:avLst>
              <a:gd fmla="val 130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5961888" y="1234440"/>
            <a:ext cx="565099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608990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629107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649224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6739128" y="1325880"/>
            <a:ext cx="468172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6830568" y="1380744"/>
            <a:ext cx="44622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6254496" y="1892808"/>
            <a:ext cx="50657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254496" y="2221992"/>
            <a:ext cx="50657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Form data is encoded into the target URL query string.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254496" y="2551176"/>
            <a:ext cx="50657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254496" y="2880360"/>
            <a:ext cx="50657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Form data is sent in the request body.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5961888" y="5577840"/>
            <a:ext cx="5650992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5961888" y="5577840"/>
            <a:ext cx="73152" cy="566928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6217920" y="5733288"/>
            <a:ext cx="5138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method = how the browser sends the submission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GET Method — HTML-Only Demo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GET requests can be demonstrated without writing backend code.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786384" y="1170432"/>
            <a:ext cx="469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With method="get", the browser serializes successful form controls and appends them to the target URL as a query string. This makes GET perfect for demonstrating form submission using only HTML.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Useful for search and filters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Values are visible in the URL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Should not be described as “fetch from database”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&lt;form method="get"&gt;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&lt;input name="student"&gt;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&lt;input name="course"&gt;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&lt;button type="submit"&gt;Submit&lt;/button&gt;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6163056" y="2148840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6263640" y="2249424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Adfar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6163056" y="2660904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6163056" y="2916936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6263640" y="3017520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6163056" y="3429000"/>
            <a:ext cx="1188720" cy="365760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6236208" y="3520440"/>
            <a:ext cx="10424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6126480" y="3931920"/>
            <a:ext cx="5230368" cy="475488"/>
          </a:xfrm>
          <a:prstGeom prst="roundRect">
            <a:avLst>
              <a:gd fmla="val 5769" name="adj"/>
            </a:avLst>
          </a:prstGeom>
          <a:solidFill>
            <a:srgbClr val="D1FAE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6254496" y="4032504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After submit: ?student=Adfar&amp;course=HTML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GET Builds the Query String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input name becomes the key; the entered value becomes the value.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685800" y="1371600"/>
            <a:ext cx="4892040" cy="1554480"/>
          </a:xfrm>
          <a:prstGeom prst="roundRect">
            <a:avLst>
              <a:gd fmla="val 3529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850392" y="14813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850392" y="1737360"/>
            <a:ext cx="4562856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name="student" value="Adfar"&gt;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name="course" value="HTML"&gt;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685800" y="3246120"/>
            <a:ext cx="48920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685800" y="3246120"/>
            <a:ext cx="73152" cy="19659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905256" y="3410712"/>
            <a:ext cx="4507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Name–value mapping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1051560" y="374904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name="student"   →   student=Adfar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1051560" y="422452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name="course"    →   course=HTML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5897880" y="1371600"/>
            <a:ext cx="5486400" cy="3840480"/>
          </a:xfrm>
          <a:prstGeom prst="roundRect">
            <a:avLst>
              <a:gd fmla="val 142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5897880" y="1371600"/>
            <a:ext cx="548640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6025896" y="152704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6227064" y="152704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6428232" y="152704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6675120" y="1463040"/>
            <a:ext cx="4517136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6766560" y="1517904"/>
            <a:ext cx="42976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6190488" y="2029968"/>
            <a:ext cx="4901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Resulting address after GET submission: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6153912" y="2359152"/>
            <a:ext cx="4974336" cy="685800"/>
          </a:xfrm>
          <a:prstGeom prst="roundRect">
            <a:avLst>
              <a:gd fmla="val 4000" name="adj"/>
            </a:avLst>
          </a:prstGeom>
          <a:solidFill>
            <a:srgbClr val="D1FAE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6281928" y="2459736"/>
            <a:ext cx="47183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localhost:5500/forms.html?student=Adfar&amp;course=HTML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6190488" y="3154680"/>
            <a:ext cx="4901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? starts the query string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6190488" y="3483864"/>
            <a:ext cx="4901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&amp; separates name=value pairs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input name Matters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name through code and browser behaviour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566928" y="1234440"/>
            <a:ext cx="51663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566928" y="1234440"/>
            <a:ext cx="73152" cy="18745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786384" y="1399032"/>
            <a:ext cx="4782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859536" y="1682496"/>
            <a:ext cx="459028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form control can appear and accept text even without a name. But during form submission, a successful control needs a name to contribute a named value to the submitted data.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566928" y="3310128"/>
            <a:ext cx="5166360" cy="2148840"/>
          </a:xfrm>
          <a:prstGeom prst="roundRect">
            <a:avLst>
              <a:gd fmla="val 255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731520" y="341985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731520" y="3675888"/>
            <a:ext cx="4837176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value="Adfar"&gt;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t/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name="username" value="Adfar"&gt;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5961888" y="1234440"/>
            <a:ext cx="5650992" cy="4206240"/>
          </a:xfrm>
          <a:prstGeom prst="roundRect">
            <a:avLst>
              <a:gd fmla="val 130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5961888" y="1234440"/>
            <a:ext cx="565099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608990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629107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649224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6739128" y="1325880"/>
            <a:ext cx="468172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6830568" y="1380744"/>
            <a:ext cx="44622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6217920" y="1892808"/>
            <a:ext cx="5138928" cy="475488"/>
          </a:xfrm>
          <a:prstGeom prst="roundRect">
            <a:avLst>
              <a:gd fmla="val 5769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6345936" y="1993392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Without name → no username=Adfar pair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6217920" y="2478024"/>
            <a:ext cx="5138928" cy="475488"/>
          </a:xfrm>
          <a:prstGeom prst="roundRect">
            <a:avLst>
              <a:gd fmla="val 5769" name="adj"/>
            </a:avLst>
          </a:prstGeom>
          <a:solidFill>
            <a:srgbClr val="D1FAE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6345936" y="2578608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With name → ?username=Adfar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961888" y="5577840"/>
            <a:ext cx="5650992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5961888" y="5577840"/>
            <a:ext cx="73152" cy="56692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6217920" y="5733288"/>
            <a:ext cx="5138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name connects a control to the data that gets submitted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5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POST Method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POST is easy to explain in HTML, but meaningful processing usually needs a server.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With method="post", form data is sent in the HTTP request body instead of being appended to the URL query string. The browser can send the request, but a server endpoint is normally needed to receive and process it.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841248" y="2849880"/>
            <a:ext cx="45264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Common for login, registration and data changes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Values are not placed in the URL query string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POST is not automatically “secure”; HTTPS is what encrypts traffic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&lt;form action="/register" method="post"&gt;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&lt;input name="email"&gt;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&lt;button type="submit"&gt;Register&lt;/button&gt;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6163056" y="2148840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"/>
          <p:cNvSpPr/>
          <p:nvPr/>
        </p:nvSpPr>
        <p:spPr>
          <a:xfrm>
            <a:off x="6263640" y="2249424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adfar@example.com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6163056" y="2660904"/>
            <a:ext cx="1325880" cy="365760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6236208" y="2752344"/>
            <a:ext cx="11795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6126480" y="3163824"/>
            <a:ext cx="5230368" cy="685800"/>
          </a:xfrm>
          <a:prstGeom prst="roundRect">
            <a:avLst>
              <a:gd fmla="val 4000" name="adj"/>
            </a:avLst>
          </a:prstGeom>
          <a:solidFill>
            <a:srgbClr val="FFEDD5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6"/>
          <p:cNvSpPr/>
          <p:nvPr/>
        </p:nvSpPr>
        <p:spPr>
          <a:xfrm>
            <a:off x="6254496" y="3264408"/>
            <a:ext cx="49743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Without a matching backend endpoint, the browser may show an error or unsupported response.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6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GET vs POST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Compare what the browser does during form submission.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594360" y="1325880"/>
            <a:ext cx="10972800" cy="452628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594360" y="1325880"/>
            <a:ext cx="73152" cy="452628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914400" y="16276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Aspect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3840480" y="16276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7406640" y="16276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914400" y="21488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Where data appears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3840480" y="214884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30"/>
              <a:buFont typeface="Arial"/>
              <a:buNone/>
            </a:pPr>
            <a:r>
              <a:rPr b="0" i="0" lang="en-US" sz="14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URL query string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7406640" y="2148840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30"/>
              <a:buFont typeface="Arial"/>
              <a:buNone/>
            </a:pPr>
            <a:r>
              <a:rPr b="0" i="0" lang="en-US" sz="14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HTTP request body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7"/>
          <p:cNvCxnSpPr/>
          <p:nvPr/>
        </p:nvCxnSpPr>
        <p:spPr>
          <a:xfrm>
            <a:off x="868680" y="2660904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17"/>
          <p:cNvSpPr/>
          <p:nvPr/>
        </p:nvSpPr>
        <p:spPr>
          <a:xfrm>
            <a:off x="914400" y="286207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Easy HTML-only demo?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3840480" y="286207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30"/>
              <a:buFont typeface="Arial"/>
              <a:buNone/>
            </a:pPr>
            <a:r>
              <a:rPr b="0" i="0" lang="en-US" sz="14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7406640" y="2862072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30"/>
              <a:buFont typeface="Arial"/>
              <a:buNone/>
            </a:pPr>
            <a:r>
              <a:rPr b="0" i="0" lang="en-US" sz="14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Request can be sent, but processing needs server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17"/>
          <p:cNvCxnSpPr/>
          <p:nvPr/>
        </p:nvCxnSpPr>
        <p:spPr>
          <a:xfrm>
            <a:off x="868680" y="3374136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17"/>
          <p:cNvSpPr/>
          <p:nvPr/>
        </p:nvSpPr>
        <p:spPr>
          <a:xfrm>
            <a:off x="914400" y="3575304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Typical use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3840480" y="3575304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30"/>
              <a:buFont typeface="Arial"/>
              <a:buNone/>
            </a:pPr>
            <a:r>
              <a:rPr b="0" i="0" lang="en-US" sz="14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Search, filters, navigation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7406640" y="3575304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30"/>
              <a:buFont typeface="Arial"/>
              <a:buNone/>
            </a:pPr>
            <a:r>
              <a:rPr b="0" i="0" lang="en-US" sz="14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Login, registration, creating/updating data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17"/>
          <p:cNvCxnSpPr/>
          <p:nvPr/>
        </p:nvCxnSpPr>
        <p:spPr>
          <a:xfrm>
            <a:off x="868680" y="4087368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7"/>
          <p:cNvSpPr/>
          <p:nvPr/>
        </p:nvSpPr>
        <p:spPr>
          <a:xfrm>
            <a:off x="914400" y="428853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Bookmark/share result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3840480" y="4288536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30"/>
              <a:buFont typeface="Arial"/>
              <a:buNone/>
            </a:pPr>
            <a:r>
              <a:rPr b="0" i="0" lang="en-US" sz="14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Often useful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7406640" y="4288536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30"/>
              <a:buFont typeface="Arial"/>
              <a:buNone/>
            </a:pPr>
            <a:r>
              <a:rPr b="0" i="0" lang="en-US" sz="14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Not represented by the body data in URL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p17"/>
          <p:cNvCxnSpPr/>
          <p:nvPr/>
        </p:nvCxnSpPr>
        <p:spPr>
          <a:xfrm>
            <a:off x="868680" y="4800600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17"/>
          <p:cNvSpPr/>
          <p:nvPr/>
        </p:nvSpPr>
        <p:spPr>
          <a:xfrm>
            <a:off x="914400" y="500176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Sensitive values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3840480" y="5001768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30"/>
              <a:buFont typeface="Arial"/>
              <a:buNone/>
            </a:pPr>
            <a:r>
              <a:rPr b="0" i="0" lang="en-US" sz="14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Avoid putting them in query string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7406640" y="500176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30"/>
              <a:buFont typeface="Arial"/>
              <a:buNone/>
            </a:pPr>
            <a:r>
              <a:rPr b="0" i="0" lang="en-US" sz="14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Still use HTTPS; POST alone is not encryption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Request and Response Headers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Headers carry additional information about an HTTP message.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685800" y="1371600"/>
            <a:ext cx="5303520" cy="4297680"/>
          </a:xfrm>
          <a:prstGeom prst="roundRect">
            <a:avLst>
              <a:gd fmla="val 17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685800" y="1371600"/>
            <a:ext cx="73152" cy="429768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905256" y="153619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REQUEST HEADERS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960120" y="18288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Sent by the browser to describe the request.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960120" y="2487168"/>
            <a:ext cx="4572000" cy="1691640"/>
          </a:xfrm>
          <a:prstGeom prst="roundRect">
            <a:avLst>
              <a:gd fmla="val 324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8"/>
          <p:cNvSpPr/>
          <p:nvPr/>
        </p:nvSpPr>
        <p:spPr>
          <a:xfrm>
            <a:off x="1124712" y="259689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1124712" y="2852928"/>
            <a:ext cx="4242816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GET /search?course=html HTTP/1.1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Host: example.com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User-Agent: Chrome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Accept: text/html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6217920" y="1371600"/>
            <a:ext cx="5303520" cy="4297680"/>
          </a:xfrm>
          <a:prstGeom prst="roundRect">
            <a:avLst>
              <a:gd fmla="val 17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6217920" y="1371600"/>
            <a:ext cx="73152" cy="42976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8"/>
          <p:cNvSpPr/>
          <p:nvPr/>
        </p:nvSpPr>
        <p:spPr>
          <a:xfrm>
            <a:off x="6437376" y="153619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RESPONSE HEADERS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6492240" y="18288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Sent by the server to describe the response.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6492240" y="2487168"/>
            <a:ext cx="4572000" cy="1691640"/>
          </a:xfrm>
          <a:prstGeom prst="roundRect">
            <a:avLst>
              <a:gd fmla="val 324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6656832" y="259689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6656832" y="2852928"/>
            <a:ext cx="4242816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HTTP/1.1 200 OK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Content-Type: text/html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Content-Length: 1240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Cache-Control: no-cache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8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9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HTTP Status Codes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status code tells the browser what happened to the request.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777240" y="1325880"/>
            <a:ext cx="5120640" cy="841248"/>
          </a:xfrm>
          <a:prstGeom prst="roundRect">
            <a:avLst>
              <a:gd fmla="val 8696" name="adj"/>
            </a:avLst>
          </a:prstGeom>
          <a:solidFill>
            <a:srgbClr val="D1FAE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9"/>
          <p:cNvSpPr/>
          <p:nvPr/>
        </p:nvSpPr>
        <p:spPr>
          <a:xfrm>
            <a:off x="777240" y="1325880"/>
            <a:ext cx="73152" cy="84124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9"/>
          <p:cNvSpPr/>
          <p:nvPr/>
        </p:nvSpPr>
        <p:spPr>
          <a:xfrm>
            <a:off x="1005840" y="155448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1709928" y="15087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9"/>
          <p:cNvSpPr/>
          <p:nvPr/>
        </p:nvSpPr>
        <p:spPr>
          <a:xfrm>
            <a:off x="3246120" y="15087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Request succeeded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777240" y="2404872"/>
            <a:ext cx="5120640" cy="841248"/>
          </a:xfrm>
          <a:prstGeom prst="roundRect">
            <a:avLst>
              <a:gd fmla="val 8696" name="adj"/>
            </a:avLst>
          </a:prstGeom>
          <a:solidFill>
            <a:srgbClr val="CFFA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9"/>
          <p:cNvSpPr/>
          <p:nvPr/>
        </p:nvSpPr>
        <p:spPr>
          <a:xfrm>
            <a:off x="777240" y="2404872"/>
            <a:ext cx="73152" cy="84124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9"/>
          <p:cNvSpPr/>
          <p:nvPr/>
        </p:nvSpPr>
        <p:spPr>
          <a:xfrm>
            <a:off x="1005840" y="263347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301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1709928" y="2587752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Moved Permanently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3246120" y="258775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Resource has a new location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777240" y="3483864"/>
            <a:ext cx="5120640" cy="841248"/>
          </a:xfrm>
          <a:prstGeom prst="roundRect">
            <a:avLst>
              <a:gd fmla="val 8696" name="adj"/>
            </a:avLst>
          </a:prstGeom>
          <a:solidFill>
            <a:srgbClr val="FFEDD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777240" y="3483864"/>
            <a:ext cx="73152" cy="841248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1005840" y="371246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1709928" y="3666744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Bad Request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3246120" y="366674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Request could not be understood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777240" y="4562856"/>
            <a:ext cx="5120640" cy="841248"/>
          </a:xfrm>
          <a:prstGeom prst="roundRect">
            <a:avLst>
              <a:gd fmla="val 8696" name="adj"/>
            </a:avLst>
          </a:prstGeom>
          <a:solidFill>
            <a:srgbClr val="FEF3C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>
            <a:off x="777240" y="4562856"/>
            <a:ext cx="73152" cy="841248"/>
          </a:xfrm>
          <a:prstGeom prst="rect">
            <a:avLst/>
          </a:prstGeom>
          <a:solidFill>
            <a:srgbClr val="A16207"/>
          </a:solidFill>
          <a:ln cap="flat" cmpd="sng" w="12700">
            <a:solidFill>
              <a:srgbClr val="A162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9"/>
          <p:cNvSpPr/>
          <p:nvPr/>
        </p:nvSpPr>
        <p:spPr>
          <a:xfrm>
            <a:off x="1005840" y="479145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A16207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1709928" y="4745736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Unauthorized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3246120" y="4745736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Authentication is required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6172200" y="1325880"/>
            <a:ext cx="5120640" cy="841248"/>
          </a:xfrm>
          <a:prstGeom prst="roundRect">
            <a:avLst>
              <a:gd fmla="val 8696" name="adj"/>
            </a:avLst>
          </a:prstGeom>
          <a:solidFill>
            <a:srgbClr val="FEE2E2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9"/>
          <p:cNvSpPr/>
          <p:nvPr/>
        </p:nvSpPr>
        <p:spPr>
          <a:xfrm>
            <a:off x="6172200" y="1325880"/>
            <a:ext cx="73152" cy="84124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9"/>
          <p:cNvSpPr/>
          <p:nvPr/>
        </p:nvSpPr>
        <p:spPr>
          <a:xfrm>
            <a:off x="6400800" y="155448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403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7104888" y="15087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Forbidden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8641080" y="15087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Server refuses access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6172200" y="2404872"/>
            <a:ext cx="5120640" cy="841248"/>
          </a:xfrm>
          <a:prstGeom prst="roundRect">
            <a:avLst>
              <a:gd fmla="val 8696" name="adj"/>
            </a:avLst>
          </a:prstGeom>
          <a:solidFill>
            <a:srgbClr val="FEE2E2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6172200" y="2404872"/>
            <a:ext cx="73152" cy="84124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6400800" y="263347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404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7104888" y="2587752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Not Found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8641080" y="258775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Requested resource was not found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6172200" y="3483864"/>
            <a:ext cx="5120640" cy="841248"/>
          </a:xfrm>
          <a:prstGeom prst="roundRect">
            <a:avLst>
              <a:gd fmla="val 8696" name="adj"/>
            </a:avLst>
          </a:prstGeom>
          <a:solidFill>
            <a:srgbClr val="EDE9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6172200" y="3483864"/>
            <a:ext cx="73152" cy="841248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6400800" y="371246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500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7104888" y="3666744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Server Error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8641080" y="366674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Server failed while processing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9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0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novalidate Attribute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novalidate through code and browser behaviour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566928" y="1234440"/>
            <a:ext cx="51663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566928" y="1234440"/>
            <a:ext cx="73152" cy="187452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859536" y="1682496"/>
            <a:ext cx="459028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Browsers can automatically validate controls using input types and attributes such as required, email, url, min, max and minlength. Adding novalidate to the &lt;form&gt; tells the browser not to run this built-in validation when the form is submitted.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566928" y="3310128"/>
            <a:ext cx="5166360" cy="2148840"/>
          </a:xfrm>
          <a:prstGeom prst="roundRect">
            <a:avLst>
              <a:gd fmla="val 255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0"/>
          <p:cNvSpPr/>
          <p:nvPr/>
        </p:nvSpPr>
        <p:spPr>
          <a:xfrm>
            <a:off x="731520" y="341985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731520" y="3675888"/>
            <a:ext cx="4837176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&lt;form novalidate&gt;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&lt;input type="email" required&gt;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&lt;button type="submit"&gt;Submit&lt;/button&gt;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5961888" y="1234440"/>
            <a:ext cx="5650992" cy="4206240"/>
          </a:xfrm>
          <a:prstGeom prst="roundRect">
            <a:avLst>
              <a:gd fmla="val 130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5961888" y="1234440"/>
            <a:ext cx="565099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0"/>
          <p:cNvSpPr/>
          <p:nvPr/>
        </p:nvSpPr>
        <p:spPr>
          <a:xfrm>
            <a:off x="608990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0"/>
          <p:cNvSpPr/>
          <p:nvPr/>
        </p:nvSpPr>
        <p:spPr>
          <a:xfrm>
            <a:off x="629107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0"/>
          <p:cNvSpPr/>
          <p:nvPr/>
        </p:nvSpPr>
        <p:spPr>
          <a:xfrm>
            <a:off x="649224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0"/>
          <p:cNvSpPr/>
          <p:nvPr/>
        </p:nvSpPr>
        <p:spPr>
          <a:xfrm>
            <a:off x="6739128" y="1325880"/>
            <a:ext cx="468172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0"/>
          <p:cNvSpPr/>
          <p:nvPr/>
        </p:nvSpPr>
        <p:spPr>
          <a:xfrm>
            <a:off x="6830568" y="1380744"/>
            <a:ext cx="44622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6254496" y="1892808"/>
            <a:ext cx="5056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6254496" y="2148840"/>
            <a:ext cx="506577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0"/>
          <p:cNvSpPr/>
          <p:nvPr/>
        </p:nvSpPr>
        <p:spPr>
          <a:xfrm>
            <a:off x="6355080" y="2249424"/>
            <a:ext cx="4828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6254496" y="2660904"/>
            <a:ext cx="1143000" cy="365760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0"/>
          <p:cNvSpPr/>
          <p:nvPr/>
        </p:nvSpPr>
        <p:spPr>
          <a:xfrm>
            <a:off x="6327648" y="2752344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6217920" y="3163824"/>
            <a:ext cx="5138928" cy="713232"/>
          </a:xfrm>
          <a:prstGeom prst="roundRect">
            <a:avLst>
              <a:gd fmla="val 3846" name="adj"/>
            </a:avLst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6345936" y="3264408"/>
            <a:ext cx="48828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With novalidate, the browser does not block submission with its built-in validation message.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5961888" y="5577840"/>
            <a:ext cx="5650992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0"/>
          <p:cNvSpPr/>
          <p:nvPr/>
        </p:nvSpPr>
        <p:spPr>
          <a:xfrm>
            <a:off x="5961888" y="5577840"/>
            <a:ext cx="73152" cy="566928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6217920" y="5733288"/>
            <a:ext cx="5138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novalidate disables the browser’s built-in form validation for submission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0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1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Built-in Browser Validation?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HTML can reject some invalid values before any JavaScript is written.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777240" y="1325880"/>
            <a:ext cx="1600200" cy="301752"/>
          </a:xfrm>
          <a:prstGeom prst="roundRect">
            <a:avLst>
              <a:gd fmla="val 24242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1"/>
          <p:cNvSpPr/>
          <p:nvPr/>
        </p:nvSpPr>
        <p:spPr>
          <a:xfrm>
            <a:off x="822960" y="1376172"/>
            <a:ext cx="1508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required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2651760" y="138988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29"/>
              <a:buFont typeface="Arial"/>
              <a:buNone/>
            </a:pPr>
            <a:r>
              <a:rPr b="0" i="0" lang="en-US" sz="16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field cannot be empty</a:t>
            </a:r>
            <a:endParaRPr b="0" i="0" sz="16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777240" y="2075688"/>
            <a:ext cx="1600200" cy="301752"/>
          </a:xfrm>
          <a:prstGeom prst="roundRect">
            <a:avLst>
              <a:gd fmla="val 24242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"/>
          <p:cNvSpPr/>
          <p:nvPr/>
        </p:nvSpPr>
        <p:spPr>
          <a:xfrm>
            <a:off x="822960" y="2125980"/>
            <a:ext cx="1508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type="email"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1"/>
          <p:cNvSpPr/>
          <p:nvPr/>
        </p:nvSpPr>
        <p:spPr>
          <a:xfrm>
            <a:off x="2651760" y="2139696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29"/>
              <a:buFont typeface="Arial"/>
              <a:buNone/>
            </a:pPr>
            <a:r>
              <a:rPr b="0" i="0" lang="en-US" sz="16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 should look like an email address</a:t>
            </a:r>
            <a:endParaRPr b="0" i="0" sz="16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1"/>
          <p:cNvSpPr/>
          <p:nvPr/>
        </p:nvSpPr>
        <p:spPr>
          <a:xfrm>
            <a:off x="777240" y="2825496"/>
            <a:ext cx="1600200" cy="301752"/>
          </a:xfrm>
          <a:prstGeom prst="roundRect">
            <a:avLst>
              <a:gd fmla="val 24242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1"/>
          <p:cNvSpPr/>
          <p:nvPr/>
        </p:nvSpPr>
        <p:spPr>
          <a:xfrm>
            <a:off x="822960" y="2875788"/>
            <a:ext cx="1508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type="url"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1"/>
          <p:cNvSpPr/>
          <p:nvPr/>
        </p:nvSpPr>
        <p:spPr>
          <a:xfrm>
            <a:off x="2651760" y="2889504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29"/>
              <a:buFont typeface="Arial"/>
              <a:buNone/>
            </a:pPr>
            <a:r>
              <a:rPr b="0" i="0" lang="en-US" sz="16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 should look like a URL</a:t>
            </a:r>
            <a:endParaRPr b="0" i="0" sz="16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777240" y="3575304"/>
            <a:ext cx="1600200" cy="301752"/>
          </a:xfrm>
          <a:prstGeom prst="roundRect">
            <a:avLst>
              <a:gd fmla="val 24242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1"/>
          <p:cNvSpPr/>
          <p:nvPr/>
        </p:nvSpPr>
        <p:spPr>
          <a:xfrm>
            <a:off x="822960" y="3625596"/>
            <a:ext cx="1508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 / max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2651760" y="3639312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29"/>
              <a:buFont typeface="Arial"/>
              <a:buNone/>
            </a:pPr>
            <a:r>
              <a:rPr b="0" i="0" lang="en-US" sz="16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number/date must stay within a range</a:t>
            </a:r>
            <a:endParaRPr b="0" i="0" sz="16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777240" y="4325112"/>
            <a:ext cx="1600200" cy="301752"/>
          </a:xfrm>
          <a:prstGeom prst="roundRect">
            <a:avLst>
              <a:gd fmla="val 24242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1"/>
          <p:cNvSpPr/>
          <p:nvPr/>
        </p:nvSpPr>
        <p:spPr>
          <a:xfrm>
            <a:off x="822960" y="4375404"/>
            <a:ext cx="1508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minlength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1"/>
          <p:cNvSpPr/>
          <p:nvPr/>
        </p:nvSpPr>
        <p:spPr>
          <a:xfrm>
            <a:off x="2651760" y="43891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29"/>
              <a:buFont typeface="Arial"/>
              <a:buNone/>
            </a:pPr>
            <a:r>
              <a:rPr b="0" i="0" lang="en-US" sz="16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text must meet minimum length</a:t>
            </a:r>
            <a:endParaRPr b="0" i="0" sz="16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6903720" y="1298448"/>
            <a:ext cx="4526280" cy="4297680"/>
          </a:xfrm>
          <a:prstGeom prst="roundRect">
            <a:avLst>
              <a:gd fmla="val 127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1"/>
          <p:cNvSpPr/>
          <p:nvPr/>
        </p:nvSpPr>
        <p:spPr>
          <a:xfrm>
            <a:off x="6903720" y="1298448"/>
            <a:ext cx="452628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1"/>
          <p:cNvSpPr/>
          <p:nvPr/>
        </p:nvSpPr>
        <p:spPr>
          <a:xfrm>
            <a:off x="7031736" y="1453896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1"/>
          <p:cNvSpPr/>
          <p:nvPr/>
        </p:nvSpPr>
        <p:spPr>
          <a:xfrm>
            <a:off x="7232904" y="1453896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1"/>
          <p:cNvSpPr/>
          <p:nvPr/>
        </p:nvSpPr>
        <p:spPr>
          <a:xfrm>
            <a:off x="7434072" y="1453896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1"/>
          <p:cNvSpPr/>
          <p:nvPr/>
        </p:nvSpPr>
        <p:spPr>
          <a:xfrm>
            <a:off x="7680960" y="1389888"/>
            <a:ext cx="3557016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1"/>
          <p:cNvSpPr/>
          <p:nvPr/>
        </p:nvSpPr>
        <p:spPr>
          <a:xfrm>
            <a:off x="7772400" y="1444752"/>
            <a:ext cx="33375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7196328" y="1956816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7196328" y="2212848"/>
            <a:ext cx="3941064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1"/>
          <p:cNvSpPr/>
          <p:nvPr/>
        </p:nvSpPr>
        <p:spPr>
          <a:xfrm>
            <a:off x="7296912" y="2313432"/>
            <a:ext cx="3703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7196328" y="2724912"/>
            <a:ext cx="1143000" cy="365760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1"/>
          <p:cNvSpPr/>
          <p:nvPr/>
        </p:nvSpPr>
        <p:spPr>
          <a:xfrm>
            <a:off x="7269480" y="2816352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7159752" y="3227832"/>
            <a:ext cx="4014216" cy="658368"/>
          </a:xfrm>
          <a:prstGeom prst="roundRect">
            <a:avLst>
              <a:gd fmla="val 4167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1"/>
          <p:cNvSpPr/>
          <p:nvPr/>
        </p:nvSpPr>
        <p:spPr>
          <a:xfrm>
            <a:off x="7287768" y="3328416"/>
            <a:ext cx="37581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Please include an '@' in the email address.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1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2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 Form Elements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Forms are built from specialised controls, not only &lt;input&gt;.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2"/>
          <p:cNvSpPr/>
          <p:nvPr/>
        </p:nvSpPr>
        <p:spPr>
          <a:xfrm>
            <a:off x="713232" y="1325880"/>
            <a:ext cx="33375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2"/>
          <p:cNvSpPr/>
          <p:nvPr/>
        </p:nvSpPr>
        <p:spPr>
          <a:xfrm>
            <a:off x="713232" y="1325880"/>
            <a:ext cx="73152" cy="10515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2"/>
          <p:cNvSpPr/>
          <p:nvPr/>
        </p:nvSpPr>
        <p:spPr>
          <a:xfrm>
            <a:off x="941832" y="152704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&lt;input&gt;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1993392" y="14904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single-line and specialised input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2"/>
          <p:cNvSpPr/>
          <p:nvPr/>
        </p:nvSpPr>
        <p:spPr>
          <a:xfrm>
            <a:off x="4507992" y="1325880"/>
            <a:ext cx="33375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2"/>
          <p:cNvSpPr/>
          <p:nvPr/>
        </p:nvSpPr>
        <p:spPr>
          <a:xfrm>
            <a:off x="4507992" y="1325880"/>
            <a:ext cx="73152" cy="105156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2"/>
          <p:cNvSpPr/>
          <p:nvPr/>
        </p:nvSpPr>
        <p:spPr>
          <a:xfrm>
            <a:off x="4736592" y="152704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&lt;select&gt;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2"/>
          <p:cNvSpPr/>
          <p:nvPr/>
        </p:nvSpPr>
        <p:spPr>
          <a:xfrm>
            <a:off x="5788152" y="14904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dropdown/listbox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2"/>
          <p:cNvSpPr/>
          <p:nvPr/>
        </p:nvSpPr>
        <p:spPr>
          <a:xfrm>
            <a:off x="8302752" y="1325880"/>
            <a:ext cx="33375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2"/>
          <p:cNvSpPr/>
          <p:nvPr/>
        </p:nvSpPr>
        <p:spPr>
          <a:xfrm>
            <a:off x="8302752" y="1325880"/>
            <a:ext cx="73152" cy="105156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2"/>
          <p:cNvSpPr/>
          <p:nvPr/>
        </p:nvSpPr>
        <p:spPr>
          <a:xfrm>
            <a:off x="8531352" y="152704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&lt;option&gt;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9582912" y="14904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choice inside select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2"/>
          <p:cNvSpPr/>
          <p:nvPr/>
        </p:nvSpPr>
        <p:spPr>
          <a:xfrm>
            <a:off x="713232" y="2743200"/>
            <a:ext cx="33375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2"/>
          <p:cNvSpPr/>
          <p:nvPr/>
        </p:nvSpPr>
        <p:spPr>
          <a:xfrm>
            <a:off x="713232" y="2743200"/>
            <a:ext cx="73152" cy="10515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2"/>
          <p:cNvSpPr/>
          <p:nvPr/>
        </p:nvSpPr>
        <p:spPr>
          <a:xfrm>
            <a:off x="941832" y="294436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&lt;datalist&gt;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2"/>
          <p:cNvSpPr/>
          <p:nvPr/>
        </p:nvSpPr>
        <p:spPr>
          <a:xfrm>
            <a:off x="1993392" y="290779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suggestions for an input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2"/>
          <p:cNvSpPr/>
          <p:nvPr/>
        </p:nvSpPr>
        <p:spPr>
          <a:xfrm>
            <a:off x="4507992" y="2743200"/>
            <a:ext cx="33375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2"/>
          <p:cNvSpPr/>
          <p:nvPr/>
        </p:nvSpPr>
        <p:spPr>
          <a:xfrm>
            <a:off x="4507992" y="2743200"/>
            <a:ext cx="73152" cy="105156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"/>
          <p:cNvSpPr/>
          <p:nvPr/>
        </p:nvSpPr>
        <p:spPr>
          <a:xfrm>
            <a:off x="4736592" y="294436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&lt;textarea&gt;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2"/>
          <p:cNvSpPr/>
          <p:nvPr/>
        </p:nvSpPr>
        <p:spPr>
          <a:xfrm>
            <a:off x="5788152" y="290779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multi-line text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2"/>
          <p:cNvSpPr/>
          <p:nvPr/>
        </p:nvSpPr>
        <p:spPr>
          <a:xfrm>
            <a:off x="8302752" y="2743200"/>
            <a:ext cx="33375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2"/>
          <p:cNvSpPr/>
          <p:nvPr/>
        </p:nvSpPr>
        <p:spPr>
          <a:xfrm>
            <a:off x="8302752" y="2743200"/>
            <a:ext cx="73152" cy="105156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2"/>
          <p:cNvSpPr/>
          <p:nvPr/>
        </p:nvSpPr>
        <p:spPr>
          <a:xfrm>
            <a:off x="8531352" y="294436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&lt;meter&gt;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2"/>
          <p:cNvSpPr/>
          <p:nvPr/>
        </p:nvSpPr>
        <p:spPr>
          <a:xfrm>
            <a:off x="9582912" y="290779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measurement within a known range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713232" y="4160520"/>
            <a:ext cx="33375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2"/>
          <p:cNvSpPr/>
          <p:nvPr/>
        </p:nvSpPr>
        <p:spPr>
          <a:xfrm>
            <a:off x="713232" y="4160520"/>
            <a:ext cx="73152" cy="10515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2"/>
          <p:cNvSpPr/>
          <p:nvPr/>
        </p:nvSpPr>
        <p:spPr>
          <a:xfrm>
            <a:off x="941832" y="436168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&lt;progress&gt;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2"/>
          <p:cNvSpPr/>
          <p:nvPr/>
        </p:nvSpPr>
        <p:spPr>
          <a:xfrm>
            <a:off x="1993392" y="432511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progress of an ongoing task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2"/>
          <p:cNvSpPr/>
          <p:nvPr/>
        </p:nvSpPr>
        <p:spPr>
          <a:xfrm>
            <a:off x="4507992" y="4160520"/>
            <a:ext cx="33375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2"/>
          <p:cNvSpPr/>
          <p:nvPr/>
        </p:nvSpPr>
        <p:spPr>
          <a:xfrm>
            <a:off x="4507992" y="4160520"/>
            <a:ext cx="73152" cy="105156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/>
          <p:cNvSpPr/>
          <p:nvPr/>
        </p:nvSpPr>
        <p:spPr>
          <a:xfrm>
            <a:off x="4736592" y="436168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&lt;label&gt;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2"/>
          <p:cNvSpPr/>
          <p:nvPr/>
        </p:nvSpPr>
        <p:spPr>
          <a:xfrm>
            <a:off x="5788152" y="432511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text label connected to a control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2"/>
          <p:cNvSpPr/>
          <p:nvPr/>
        </p:nvSpPr>
        <p:spPr>
          <a:xfrm>
            <a:off x="8302752" y="4160520"/>
            <a:ext cx="333756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2"/>
          <p:cNvSpPr/>
          <p:nvPr/>
        </p:nvSpPr>
        <p:spPr>
          <a:xfrm>
            <a:off x="8302752" y="4160520"/>
            <a:ext cx="73152" cy="105156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2"/>
          <p:cNvSpPr/>
          <p:nvPr/>
        </p:nvSpPr>
        <p:spPr>
          <a:xfrm>
            <a:off x="8531352" y="436168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&lt;button&gt;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9582912" y="432511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action or submission button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2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3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&lt;input&gt; Element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3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most flexible form control in HTML.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3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3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3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&lt;input&gt; element is a void element. Its behaviour changes mainly through the type attribute. A text box, password field, slider, date picker, checkbox and file picker can all be created using &lt;input&gt;.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3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Void element: no closing tag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type decides the control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Many common attributes work across input types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3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3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3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name="student"&gt;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3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3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3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3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3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3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3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3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 name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6163056" y="2148840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3"/>
          <p:cNvSpPr/>
          <p:nvPr/>
        </p:nvSpPr>
        <p:spPr>
          <a:xfrm>
            <a:off x="6263640" y="2249424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Enter your name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3"/>
          <p:cNvSpPr/>
          <p:nvPr/>
        </p:nvSpPr>
        <p:spPr>
          <a:xfrm>
            <a:off x="6126480" y="2660904"/>
            <a:ext cx="5230368" cy="475488"/>
          </a:xfrm>
          <a:prstGeom prst="roundRect">
            <a:avLst>
              <a:gd fmla="val 5769" name="adj"/>
            </a:avLst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3"/>
          <p:cNvSpPr/>
          <p:nvPr/>
        </p:nvSpPr>
        <p:spPr>
          <a:xfrm>
            <a:off x="6254496" y="2761488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Change type="text" to password, number, email, date and more to create different controls.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3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4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input type="text"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4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Creates a single-line text field.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4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4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4"/>
          <p:cNvSpPr/>
          <p:nvPr/>
        </p:nvSpPr>
        <p:spPr>
          <a:xfrm>
            <a:off x="786384" y="1399032"/>
            <a:ext cx="4690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4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text input is used when the expected value is short, single-line text such as a name, city, username or search term.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4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Default input type is text when type is omitted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Useful for short text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Combine with label for accessible forms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4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4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4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&lt;label for="student"&gt;Student name&lt;/label&gt;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id="student" name="student"&gt;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4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4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4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4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4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4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4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4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 name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4"/>
          <p:cNvSpPr/>
          <p:nvPr/>
        </p:nvSpPr>
        <p:spPr>
          <a:xfrm>
            <a:off x="6163056" y="2148840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4"/>
          <p:cNvSpPr/>
          <p:nvPr/>
        </p:nvSpPr>
        <p:spPr>
          <a:xfrm>
            <a:off x="6263640" y="2249424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4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5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id vs name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5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These two attributes solve different problems.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5"/>
          <p:cNvSpPr/>
          <p:nvPr/>
        </p:nvSpPr>
        <p:spPr>
          <a:xfrm>
            <a:off x="685800" y="1325880"/>
            <a:ext cx="5257800" cy="4434840"/>
          </a:xfrm>
          <a:prstGeom prst="roundRect">
            <a:avLst>
              <a:gd fmla="val 164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5"/>
          <p:cNvSpPr/>
          <p:nvPr/>
        </p:nvSpPr>
        <p:spPr>
          <a:xfrm>
            <a:off x="685800" y="1325880"/>
            <a:ext cx="73152" cy="4434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5"/>
          <p:cNvSpPr/>
          <p:nvPr/>
        </p:nvSpPr>
        <p:spPr>
          <a:xfrm>
            <a:off x="905256" y="1490472"/>
            <a:ext cx="4873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5"/>
          <p:cNvSpPr/>
          <p:nvPr/>
        </p:nvSpPr>
        <p:spPr>
          <a:xfrm>
            <a:off x="960120" y="1810512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id uniquely identifies an element inside the document. It is commonly used by labels, CSS, fragment links and JavaScript.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5"/>
          <p:cNvSpPr/>
          <p:nvPr/>
        </p:nvSpPr>
        <p:spPr>
          <a:xfrm>
            <a:off x="960120" y="2971800"/>
            <a:ext cx="4617720" cy="1371600"/>
          </a:xfrm>
          <a:prstGeom prst="roundRect">
            <a:avLst>
              <a:gd fmla="val 4000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5"/>
          <p:cNvSpPr/>
          <p:nvPr/>
        </p:nvSpPr>
        <p:spPr>
          <a:xfrm>
            <a:off x="1124712" y="3081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5"/>
          <p:cNvSpPr/>
          <p:nvPr/>
        </p:nvSpPr>
        <p:spPr>
          <a:xfrm>
            <a:off x="1124712" y="3337560"/>
            <a:ext cx="4288536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&lt;label for="email"&gt;Email&lt;/label&gt;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id="email" name="userEmail"&gt;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5"/>
          <p:cNvSpPr/>
          <p:nvPr/>
        </p:nvSpPr>
        <p:spPr>
          <a:xfrm>
            <a:off x="6217920" y="1325880"/>
            <a:ext cx="5257800" cy="4434840"/>
          </a:xfrm>
          <a:prstGeom prst="roundRect">
            <a:avLst>
              <a:gd fmla="val 164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5"/>
          <p:cNvSpPr/>
          <p:nvPr/>
        </p:nvSpPr>
        <p:spPr>
          <a:xfrm>
            <a:off x="6217920" y="1325880"/>
            <a:ext cx="73152" cy="44348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5"/>
          <p:cNvSpPr/>
          <p:nvPr/>
        </p:nvSpPr>
        <p:spPr>
          <a:xfrm>
            <a:off x="6437376" y="1490472"/>
            <a:ext cx="4873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5"/>
          <p:cNvSpPr/>
          <p:nvPr/>
        </p:nvSpPr>
        <p:spPr>
          <a:xfrm>
            <a:off x="6492240" y="1810512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name identifies the submitted form value. During submission, it becomes the key in the name=value pair.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5"/>
          <p:cNvSpPr/>
          <p:nvPr/>
        </p:nvSpPr>
        <p:spPr>
          <a:xfrm>
            <a:off x="6492240" y="2971800"/>
            <a:ext cx="4617720" cy="1371600"/>
          </a:xfrm>
          <a:prstGeom prst="roundRect">
            <a:avLst>
              <a:gd fmla="val 4000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5"/>
          <p:cNvSpPr/>
          <p:nvPr/>
        </p:nvSpPr>
        <p:spPr>
          <a:xfrm>
            <a:off x="6656832" y="3081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5"/>
          <p:cNvSpPr/>
          <p:nvPr/>
        </p:nvSpPr>
        <p:spPr>
          <a:xfrm>
            <a:off x="6656832" y="3337560"/>
            <a:ext cx="4288536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name="userEmail"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t/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GET → ?userEmail=adfar%40example.com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5"/>
          <p:cNvSpPr/>
          <p:nvPr/>
        </p:nvSpPr>
        <p:spPr>
          <a:xfrm>
            <a:off x="1920240" y="5532120"/>
            <a:ext cx="8412480" cy="530352"/>
          </a:xfrm>
          <a:prstGeom prst="roundRect">
            <a:avLst>
              <a:gd fmla="val 1379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5"/>
          <p:cNvSpPr/>
          <p:nvPr/>
        </p:nvSpPr>
        <p:spPr>
          <a:xfrm>
            <a:off x="1920240" y="5532120"/>
            <a:ext cx="73152" cy="530352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5"/>
          <p:cNvSpPr/>
          <p:nvPr/>
        </p:nvSpPr>
        <p:spPr>
          <a:xfrm>
            <a:off x="2212848" y="5678424"/>
            <a:ext cx="7863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id connects things inside the page. name connects the control to submitted data.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5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6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class, value and placeholder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6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Three common attributes with three different purposes.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6"/>
          <p:cNvSpPr/>
          <p:nvPr/>
        </p:nvSpPr>
        <p:spPr>
          <a:xfrm>
            <a:off x="822960" y="1325880"/>
            <a:ext cx="10561320" cy="1143000"/>
          </a:xfrm>
          <a:prstGeom prst="roundRect">
            <a:avLst>
              <a:gd fmla="val 6400" name="adj"/>
            </a:avLst>
          </a:prstGeom>
          <a:solidFill>
            <a:srgbClr val="CFFA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6"/>
          <p:cNvSpPr/>
          <p:nvPr/>
        </p:nvSpPr>
        <p:spPr>
          <a:xfrm>
            <a:off x="822960" y="1325880"/>
            <a:ext cx="73152" cy="11430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6"/>
          <p:cNvSpPr/>
          <p:nvPr/>
        </p:nvSpPr>
        <p:spPr>
          <a:xfrm>
            <a:off x="1143000" y="1572768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class="field"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6"/>
          <p:cNvSpPr/>
          <p:nvPr/>
        </p:nvSpPr>
        <p:spPr>
          <a:xfrm>
            <a:off x="3520440" y="1517904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40"/>
              <a:buFont typeface="Arial"/>
              <a:buNone/>
            </a:pPr>
            <a:r>
              <a:rPr b="1" i="0" lang="en-US" sz="15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Groups elements for styling or JavaScript.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6"/>
          <p:cNvSpPr/>
          <p:nvPr/>
        </p:nvSpPr>
        <p:spPr>
          <a:xfrm>
            <a:off x="7315200" y="1499616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Does not define submitted data by itself.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6"/>
          <p:cNvSpPr/>
          <p:nvPr/>
        </p:nvSpPr>
        <p:spPr>
          <a:xfrm>
            <a:off x="822960" y="2807208"/>
            <a:ext cx="10561320" cy="1143000"/>
          </a:xfrm>
          <a:prstGeom prst="roundRect">
            <a:avLst>
              <a:gd fmla="val 6400" name="adj"/>
            </a:avLst>
          </a:prstGeom>
          <a:solidFill>
            <a:srgbClr val="D1FAE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6"/>
          <p:cNvSpPr/>
          <p:nvPr/>
        </p:nvSpPr>
        <p:spPr>
          <a:xfrm>
            <a:off x="822960" y="2807208"/>
            <a:ext cx="73152" cy="11430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6"/>
          <p:cNvSpPr/>
          <p:nvPr/>
        </p:nvSpPr>
        <p:spPr>
          <a:xfrm>
            <a:off x="1143000" y="3054096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value="Adfar"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6"/>
          <p:cNvSpPr/>
          <p:nvPr/>
        </p:nvSpPr>
        <p:spPr>
          <a:xfrm>
            <a:off x="3520440" y="299923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40"/>
              <a:buFont typeface="Arial"/>
              <a:buNone/>
            </a:pPr>
            <a:r>
              <a:rPr b="1" i="0" lang="en-US" sz="15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Sets the control’s current/default value.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6"/>
          <p:cNvSpPr/>
          <p:nvPr/>
        </p:nvSpPr>
        <p:spPr>
          <a:xfrm>
            <a:off x="7315200" y="2980944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For many controls, this value is what gets submitted.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6"/>
          <p:cNvSpPr/>
          <p:nvPr/>
        </p:nvSpPr>
        <p:spPr>
          <a:xfrm>
            <a:off x="822960" y="4288536"/>
            <a:ext cx="10561320" cy="1143000"/>
          </a:xfrm>
          <a:prstGeom prst="roundRect">
            <a:avLst>
              <a:gd fmla="val 6400" name="adj"/>
            </a:avLst>
          </a:prstGeom>
          <a:solidFill>
            <a:srgbClr val="FFEDD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6"/>
          <p:cNvSpPr/>
          <p:nvPr/>
        </p:nvSpPr>
        <p:spPr>
          <a:xfrm>
            <a:off x="822960" y="4288536"/>
            <a:ext cx="73152" cy="114300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6"/>
          <p:cNvSpPr/>
          <p:nvPr/>
        </p:nvSpPr>
        <p:spPr>
          <a:xfrm>
            <a:off x="1143000" y="4535424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placeholder="Enter name"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3520440" y="448056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40"/>
              <a:buFont typeface="Arial"/>
              <a:buNone/>
            </a:pPr>
            <a:r>
              <a:rPr b="1" i="0" lang="en-US" sz="15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Shows temporary hint text.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6"/>
          <p:cNvSpPr/>
          <p:nvPr/>
        </p:nvSpPr>
        <p:spPr>
          <a:xfrm>
            <a:off x="7315200" y="4462272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Disappears when the user enters a value.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6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7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placeholder Attribute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7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placeholder through code and browser behaviour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7"/>
          <p:cNvSpPr/>
          <p:nvPr/>
        </p:nvSpPr>
        <p:spPr>
          <a:xfrm>
            <a:off x="566928" y="1234440"/>
            <a:ext cx="51663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7"/>
          <p:cNvSpPr/>
          <p:nvPr/>
        </p:nvSpPr>
        <p:spPr>
          <a:xfrm>
            <a:off x="566928" y="1234440"/>
            <a:ext cx="73152" cy="187452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7"/>
          <p:cNvSpPr/>
          <p:nvPr/>
        </p:nvSpPr>
        <p:spPr>
          <a:xfrm>
            <a:off x="786384" y="1399032"/>
            <a:ext cx="4782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7"/>
          <p:cNvSpPr/>
          <p:nvPr/>
        </p:nvSpPr>
        <p:spPr>
          <a:xfrm>
            <a:off x="859536" y="1682496"/>
            <a:ext cx="459028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placeholder shows temporary hint text inside an empty field. It helps communicate the expected format or example value, but it should not replace a proper label.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7"/>
          <p:cNvSpPr/>
          <p:nvPr/>
        </p:nvSpPr>
        <p:spPr>
          <a:xfrm>
            <a:off x="566928" y="3310128"/>
            <a:ext cx="5166360" cy="2148840"/>
          </a:xfrm>
          <a:prstGeom prst="roundRect">
            <a:avLst>
              <a:gd fmla="val 255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7"/>
          <p:cNvSpPr/>
          <p:nvPr/>
        </p:nvSpPr>
        <p:spPr>
          <a:xfrm>
            <a:off x="731520" y="341985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7"/>
          <p:cNvSpPr/>
          <p:nvPr/>
        </p:nvSpPr>
        <p:spPr>
          <a:xfrm>
            <a:off x="731520" y="3675888"/>
            <a:ext cx="4837176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&lt;label for="name"&gt;Name&lt;/label&gt;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id="name" type="text" placeholder="Enter your name"&gt;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7"/>
          <p:cNvSpPr/>
          <p:nvPr/>
        </p:nvSpPr>
        <p:spPr>
          <a:xfrm>
            <a:off x="5961888" y="1234440"/>
            <a:ext cx="5650992" cy="4206240"/>
          </a:xfrm>
          <a:prstGeom prst="roundRect">
            <a:avLst>
              <a:gd fmla="val 130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7"/>
          <p:cNvSpPr/>
          <p:nvPr/>
        </p:nvSpPr>
        <p:spPr>
          <a:xfrm>
            <a:off x="5961888" y="1234440"/>
            <a:ext cx="565099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7"/>
          <p:cNvSpPr/>
          <p:nvPr/>
        </p:nvSpPr>
        <p:spPr>
          <a:xfrm>
            <a:off x="608990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7"/>
          <p:cNvSpPr/>
          <p:nvPr/>
        </p:nvSpPr>
        <p:spPr>
          <a:xfrm>
            <a:off x="629107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7"/>
          <p:cNvSpPr/>
          <p:nvPr/>
        </p:nvSpPr>
        <p:spPr>
          <a:xfrm>
            <a:off x="649224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7"/>
          <p:cNvSpPr/>
          <p:nvPr/>
        </p:nvSpPr>
        <p:spPr>
          <a:xfrm>
            <a:off x="6739128" y="1325880"/>
            <a:ext cx="468172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7"/>
          <p:cNvSpPr/>
          <p:nvPr/>
        </p:nvSpPr>
        <p:spPr>
          <a:xfrm>
            <a:off x="6830568" y="1380744"/>
            <a:ext cx="44622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7"/>
          <p:cNvSpPr/>
          <p:nvPr/>
        </p:nvSpPr>
        <p:spPr>
          <a:xfrm>
            <a:off x="6254496" y="1892808"/>
            <a:ext cx="5056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7"/>
          <p:cNvSpPr/>
          <p:nvPr/>
        </p:nvSpPr>
        <p:spPr>
          <a:xfrm>
            <a:off x="6254496" y="2148840"/>
            <a:ext cx="506577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7"/>
          <p:cNvSpPr/>
          <p:nvPr/>
        </p:nvSpPr>
        <p:spPr>
          <a:xfrm>
            <a:off x="6355080" y="2249424"/>
            <a:ext cx="4828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Enter your name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7"/>
          <p:cNvSpPr/>
          <p:nvPr/>
        </p:nvSpPr>
        <p:spPr>
          <a:xfrm>
            <a:off x="6254496" y="2660904"/>
            <a:ext cx="5056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After typing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7"/>
          <p:cNvSpPr/>
          <p:nvPr/>
        </p:nvSpPr>
        <p:spPr>
          <a:xfrm>
            <a:off x="6254496" y="2916936"/>
            <a:ext cx="506577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7"/>
          <p:cNvSpPr/>
          <p:nvPr/>
        </p:nvSpPr>
        <p:spPr>
          <a:xfrm>
            <a:off x="6355080" y="3017520"/>
            <a:ext cx="4828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Adfar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7"/>
          <p:cNvSpPr/>
          <p:nvPr/>
        </p:nvSpPr>
        <p:spPr>
          <a:xfrm>
            <a:off x="5961888" y="5577840"/>
            <a:ext cx="5650992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7"/>
          <p:cNvSpPr/>
          <p:nvPr/>
        </p:nvSpPr>
        <p:spPr>
          <a:xfrm>
            <a:off x="5961888" y="5577840"/>
            <a:ext cx="73152" cy="566928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7"/>
          <p:cNvSpPr/>
          <p:nvPr/>
        </p:nvSpPr>
        <p:spPr>
          <a:xfrm>
            <a:off x="6217920" y="5733288"/>
            <a:ext cx="5138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placeholder = hint text, not the actual value and not a replacement for &lt;label&gt;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7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8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value Attribute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8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value through code and browser behaviour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8"/>
          <p:cNvSpPr/>
          <p:nvPr/>
        </p:nvSpPr>
        <p:spPr>
          <a:xfrm>
            <a:off x="566928" y="1234440"/>
            <a:ext cx="51663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8"/>
          <p:cNvSpPr/>
          <p:nvPr/>
        </p:nvSpPr>
        <p:spPr>
          <a:xfrm>
            <a:off x="566928" y="1234440"/>
            <a:ext cx="73152" cy="18745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8"/>
          <p:cNvSpPr/>
          <p:nvPr/>
        </p:nvSpPr>
        <p:spPr>
          <a:xfrm>
            <a:off x="786384" y="1399032"/>
            <a:ext cx="4782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8"/>
          <p:cNvSpPr/>
          <p:nvPr/>
        </p:nvSpPr>
        <p:spPr>
          <a:xfrm>
            <a:off x="859536" y="1682496"/>
            <a:ext cx="459028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 sets the current/default value of many form controls. When a successful control is submitted, its current value is paired with its name.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8"/>
          <p:cNvSpPr/>
          <p:nvPr/>
        </p:nvSpPr>
        <p:spPr>
          <a:xfrm>
            <a:off x="566928" y="3310128"/>
            <a:ext cx="5166360" cy="2148840"/>
          </a:xfrm>
          <a:prstGeom prst="roundRect">
            <a:avLst>
              <a:gd fmla="val 255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8"/>
          <p:cNvSpPr/>
          <p:nvPr/>
        </p:nvSpPr>
        <p:spPr>
          <a:xfrm>
            <a:off x="731520" y="341985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8"/>
          <p:cNvSpPr/>
          <p:nvPr/>
        </p:nvSpPr>
        <p:spPr>
          <a:xfrm>
            <a:off x="731520" y="3675888"/>
            <a:ext cx="4837176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name="city" value="Noida"&gt;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8"/>
          <p:cNvSpPr/>
          <p:nvPr/>
        </p:nvSpPr>
        <p:spPr>
          <a:xfrm>
            <a:off x="5961888" y="1234440"/>
            <a:ext cx="5650992" cy="4206240"/>
          </a:xfrm>
          <a:prstGeom prst="roundRect">
            <a:avLst>
              <a:gd fmla="val 130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8"/>
          <p:cNvSpPr/>
          <p:nvPr/>
        </p:nvSpPr>
        <p:spPr>
          <a:xfrm>
            <a:off x="5961888" y="1234440"/>
            <a:ext cx="565099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8"/>
          <p:cNvSpPr/>
          <p:nvPr/>
        </p:nvSpPr>
        <p:spPr>
          <a:xfrm>
            <a:off x="608990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8"/>
          <p:cNvSpPr/>
          <p:nvPr/>
        </p:nvSpPr>
        <p:spPr>
          <a:xfrm>
            <a:off x="629107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8"/>
          <p:cNvSpPr/>
          <p:nvPr/>
        </p:nvSpPr>
        <p:spPr>
          <a:xfrm>
            <a:off x="649224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8"/>
          <p:cNvSpPr/>
          <p:nvPr/>
        </p:nvSpPr>
        <p:spPr>
          <a:xfrm>
            <a:off x="6739128" y="1325880"/>
            <a:ext cx="468172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8"/>
          <p:cNvSpPr/>
          <p:nvPr/>
        </p:nvSpPr>
        <p:spPr>
          <a:xfrm>
            <a:off x="6830568" y="1380744"/>
            <a:ext cx="44622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8"/>
          <p:cNvSpPr/>
          <p:nvPr/>
        </p:nvSpPr>
        <p:spPr>
          <a:xfrm>
            <a:off x="6254496" y="1892808"/>
            <a:ext cx="5056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8"/>
          <p:cNvSpPr/>
          <p:nvPr/>
        </p:nvSpPr>
        <p:spPr>
          <a:xfrm>
            <a:off x="6254496" y="2148840"/>
            <a:ext cx="506577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8"/>
          <p:cNvSpPr/>
          <p:nvPr/>
        </p:nvSpPr>
        <p:spPr>
          <a:xfrm>
            <a:off x="6355080" y="2249424"/>
            <a:ext cx="4828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Noida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8"/>
          <p:cNvSpPr/>
          <p:nvPr/>
        </p:nvSpPr>
        <p:spPr>
          <a:xfrm>
            <a:off x="6217920" y="2660904"/>
            <a:ext cx="5138928" cy="475488"/>
          </a:xfrm>
          <a:prstGeom prst="roundRect">
            <a:avLst>
              <a:gd fmla="val 5769" name="adj"/>
            </a:avLst>
          </a:prstGeom>
          <a:solidFill>
            <a:srgbClr val="D1FAE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8"/>
          <p:cNvSpPr/>
          <p:nvPr/>
        </p:nvSpPr>
        <p:spPr>
          <a:xfrm>
            <a:off x="6345936" y="2761488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GET example → ?city=Noida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8"/>
          <p:cNvSpPr/>
          <p:nvPr/>
        </p:nvSpPr>
        <p:spPr>
          <a:xfrm>
            <a:off x="5961888" y="5577840"/>
            <a:ext cx="5650992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8"/>
          <p:cNvSpPr/>
          <p:nvPr/>
        </p:nvSpPr>
        <p:spPr>
          <a:xfrm>
            <a:off x="5961888" y="5577840"/>
            <a:ext cx="73152" cy="56692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8"/>
          <p:cNvSpPr/>
          <p:nvPr/>
        </p:nvSpPr>
        <p:spPr>
          <a:xfrm>
            <a:off x="6217920" y="5733288"/>
            <a:ext cx="5138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value = the control’s current value that may be submitted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8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9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readonly vs disabled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9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Both prevent editing, but their form behaviour is different.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9"/>
          <p:cNvSpPr/>
          <p:nvPr/>
        </p:nvSpPr>
        <p:spPr>
          <a:xfrm>
            <a:off x="685800" y="1298448"/>
            <a:ext cx="521208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9"/>
          <p:cNvSpPr/>
          <p:nvPr/>
        </p:nvSpPr>
        <p:spPr>
          <a:xfrm>
            <a:off x="685800" y="1298448"/>
            <a:ext cx="73152" cy="44805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9"/>
          <p:cNvSpPr/>
          <p:nvPr/>
        </p:nvSpPr>
        <p:spPr>
          <a:xfrm>
            <a:off x="905256" y="1463040"/>
            <a:ext cx="4828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readonly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9"/>
          <p:cNvSpPr/>
          <p:nvPr/>
        </p:nvSpPr>
        <p:spPr>
          <a:xfrm>
            <a:off x="960120" y="1847088"/>
            <a:ext cx="4572000" cy="1097280"/>
          </a:xfrm>
          <a:prstGeom prst="roundRect">
            <a:avLst>
              <a:gd fmla="val 5000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9"/>
          <p:cNvSpPr/>
          <p:nvPr/>
        </p:nvSpPr>
        <p:spPr>
          <a:xfrm>
            <a:off x="1124712" y="195681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9"/>
          <p:cNvSpPr/>
          <p:nvPr/>
        </p:nvSpPr>
        <p:spPr>
          <a:xfrm>
            <a:off x="1124712" y="2212848"/>
            <a:ext cx="4242816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name="city" value="Noida" readonly&gt;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9"/>
          <p:cNvSpPr/>
          <p:nvPr/>
        </p:nvSpPr>
        <p:spPr>
          <a:xfrm>
            <a:off x="960120" y="3172968"/>
            <a:ext cx="457200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9"/>
          <p:cNvSpPr/>
          <p:nvPr/>
        </p:nvSpPr>
        <p:spPr>
          <a:xfrm>
            <a:off x="960120" y="3172968"/>
            <a:ext cx="457200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9"/>
          <p:cNvSpPr/>
          <p:nvPr/>
        </p:nvSpPr>
        <p:spPr>
          <a:xfrm>
            <a:off x="1088136" y="3328416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9"/>
          <p:cNvSpPr/>
          <p:nvPr/>
        </p:nvSpPr>
        <p:spPr>
          <a:xfrm>
            <a:off x="1289304" y="3328416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9"/>
          <p:cNvSpPr/>
          <p:nvPr/>
        </p:nvSpPr>
        <p:spPr>
          <a:xfrm>
            <a:off x="1490472" y="3328416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9"/>
          <p:cNvSpPr/>
          <p:nvPr/>
        </p:nvSpPr>
        <p:spPr>
          <a:xfrm>
            <a:off x="1737360" y="3264408"/>
            <a:ext cx="3602736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9"/>
          <p:cNvSpPr/>
          <p:nvPr/>
        </p:nvSpPr>
        <p:spPr>
          <a:xfrm>
            <a:off x="1828800" y="3319272"/>
            <a:ext cx="33832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9"/>
          <p:cNvSpPr/>
          <p:nvPr/>
        </p:nvSpPr>
        <p:spPr>
          <a:xfrm>
            <a:off x="1252728" y="3831336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9"/>
          <p:cNvSpPr/>
          <p:nvPr/>
        </p:nvSpPr>
        <p:spPr>
          <a:xfrm>
            <a:off x="1252728" y="4087368"/>
            <a:ext cx="3986784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9"/>
          <p:cNvSpPr/>
          <p:nvPr/>
        </p:nvSpPr>
        <p:spPr>
          <a:xfrm>
            <a:off x="1353312" y="4187952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Noida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9"/>
          <p:cNvSpPr/>
          <p:nvPr/>
        </p:nvSpPr>
        <p:spPr>
          <a:xfrm>
            <a:off x="987552" y="5102352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80"/>
              <a:buFont typeface="Arial"/>
              <a:buNone/>
            </a:pPr>
            <a:r>
              <a:rPr b="1" i="0" lang="en-US" sz="14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Cannot be edited, but can still participate in submission.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9"/>
          <p:cNvSpPr/>
          <p:nvPr/>
        </p:nvSpPr>
        <p:spPr>
          <a:xfrm>
            <a:off x="6263640" y="1298448"/>
            <a:ext cx="521208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9"/>
          <p:cNvSpPr/>
          <p:nvPr/>
        </p:nvSpPr>
        <p:spPr>
          <a:xfrm>
            <a:off x="6263640" y="1298448"/>
            <a:ext cx="73152" cy="448056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9"/>
          <p:cNvSpPr/>
          <p:nvPr/>
        </p:nvSpPr>
        <p:spPr>
          <a:xfrm>
            <a:off x="6483096" y="1463040"/>
            <a:ext cx="4828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disabled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9"/>
          <p:cNvSpPr/>
          <p:nvPr/>
        </p:nvSpPr>
        <p:spPr>
          <a:xfrm>
            <a:off x="6537960" y="1847088"/>
            <a:ext cx="4572000" cy="1097280"/>
          </a:xfrm>
          <a:prstGeom prst="roundRect">
            <a:avLst>
              <a:gd fmla="val 5000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9"/>
          <p:cNvSpPr/>
          <p:nvPr/>
        </p:nvSpPr>
        <p:spPr>
          <a:xfrm>
            <a:off x="6702552" y="195681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9"/>
          <p:cNvSpPr/>
          <p:nvPr/>
        </p:nvSpPr>
        <p:spPr>
          <a:xfrm>
            <a:off x="6702552" y="2212848"/>
            <a:ext cx="4242816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name="city" value="Noida" disabled&gt;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9"/>
          <p:cNvSpPr/>
          <p:nvPr/>
        </p:nvSpPr>
        <p:spPr>
          <a:xfrm>
            <a:off x="6537960" y="3172968"/>
            <a:ext cx="457200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9"/>
          <p:cNvSpPr/>
          <p:nvPr/>
        </p:nvSpPr>
        <p:spPr>
          <a:xfrm>
            <a:off x="6537960" y="3172968"/>
            <a:ext cx="457200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9"/>
          <p:cNvSpPr/>
          <p:nvPr/>
        </p:nvSpPr>
        <p:spPr>
          <a:xfrm>
            <a:off x="6665976" y="3328416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9"/>
          <p:cNvSpPr/>
          <p:nvPr/>
        </p:nvSpPr>
        <p:spPr>
          <a:xfrm>
            <a:off x="6867144" y="3328416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9"/>
          <p:cNvSpPr/>
          <p:nvPr/>
        </p:nvSpPr>
        <p:spPr>
          <a:xfrm>
            <a:off x="7068312" y="3328416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9"/>
          <p:cNvSpPr/>
          <p:nvPr/>
        </p:nvSpPr>
        <p:spPr>
          <a:xfrm>
            <a:off x="7315200" y="3264408"/>
            <a:ext cx="3602736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9"/>
          <p:cNvSpPr/>
          <p:nvPr/>
        </p:nvSpPr>
        <p:spPr>
          <a:xfrm>
            <a:off x="7406640" y="3319272"/>
            <a:ext cx="33832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9"/>
          <p:cNvSpPr/>
          <p:nvPr/>
        </p:nvSpPr>
        <p:spPr>
          <a:xfrm>
            <a:off x="6830568" y="3831336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9"/>
          <p:cNvSpPr/>
          <p:nvPr/>
        </p:nvSpPr>
        <p:spPr>
          <a:xfrm>
            <a:off x="6830568" y="4087368"/>
            <a:ext cx="3986784" cy="384048"/>
          </a:xfrm>
          <a:prstGeom prst="roundRect">
            <a:avLst>
              <a:gd fmla="val 7143" name="adj"/>
            </a:avLst>
          </a:prstGeom>
          <a:solidFill>
            <a:srgbClr val="F1F5F9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9"/>
          <p:cNvSpPr/>
          <p:nvPr/>
        </p:nvSpPr>
        <p:spPr>
          <a:xfrm>
            <a:off x="6931152" y="4187952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Noida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9"/>
          <p:cNvSpPr/>
          <p:nvPr/>
        </p:nvSpPr>
        <p:spPr>
          <a:xfrm>
            <a:off x="6565392" y="5102352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80"/>
              <a:buFont typeface="Arial"/>
              <a:buNone/>
            </a:pPr>
            <a:r>
              <a:rPr b="1" i="0" lang="en-US" sz="14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Cannot be interacted with and is generally not submitted.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9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30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required Attribute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30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required through code and browser behaviour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30"/>
          <p:cNvSpPr/>
          <p:nvPr/>
        </p:nvSpPr>
        <p:spPr>
          <a:xfrm>
            <a:off x="566928" y="1234440"/>
            <a:ext cx="51663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0"/>
          <p:cNvSpPr/>
          <p:nvPr/>
        </p:nvSpPr>
        <p:spPr>
          <a:xfrm>
            <a:off x="566928" y="1234440"/>
            <a:ext cx="73152" cy="18745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0"/>
          <p:cNvSpPr/>
          <p:nvPr/>
        </p:nvSpPr>
        <p:spPr>
          <a:xfrm>
            <a:off x="859536" y="1682496"/>
            <a:ext cx="459028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required makes a control mandatory for the browser’s built-in validation. If the user tries to submit an empty required field, the browser normally blocks submission and shows a validation message.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0"/>
          <p:cNvSpPr/>
          <p:nvPr/>
        </p:nvSpPr>
        <p:spPr>
          <a:xfrm>
            <a:off x="566928" y="3310128"/>
            <a:ext cx="5166360" cy="2148840"/>
          </a:xfrm>
          <a:prstGeom prst="roundRect">
            <a:avLst>
              <a:gd fmla="val 255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0"/>
          <p:cNvSpPr/>
          <p:nvPr/>
        </p:nvSpPr>
        <p:spPr>
          <a:xfrm>
            <a:off x="731520" y="341985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0"/>
          <p:cNvSpPr/>
          <p:nvPr/>
        </p:nvSpPr>
        <p:spPr>
          <a:xfrm>
            <a:off x="731520" y="3675888"/>
            <a:ext cx="4837176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name="student" required&gt;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0"/>
          <p:cNvSpPr/>
          <p:nvPr/>
        </p:nvSpPr>
        <p:spPr>
          <a:xfrm>
            <a:off x="5961888" y="1234440"/>
            <a:ext cx="5650992" cy="4206240"/>
          </a:xfrm>
          <a:prstGeom prst="roundRect">
            <a:avLst>
              <a:gd fmla="val 130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0"/>
          <p:cNvSpPr/>
          <p:nvPr/>
        </p:nvSpPr>
        <p:spPr>
          <a:xfrm>
            <a:off x="5961888" y="1234440"/>
            <a:ext cx="565099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0"/>
          <p:cNvSpPr/>
          <p:nvPr/>
        </p:nvSpPr>
        <p:spPr>
          <a:xfrm>
            <a:off x="608990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0"/>
          <p:cNvSpPr/>
          <p:nvPr/>
        </p:nvSpPr>
        <p:spPr>
          <a:xfrm>
            <a:off x="629107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0"/>
          <p:cNvSpPr/>
          <p:nvPr/>
        </p:nvSpPr>
        <p:spPr>
          <a:xfrm>
            <a:off x="649224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0"/>
          <p:cNvSpPr/>
          <p:nvPr/>
        </p:nvSpPr>
        <p:spPr>
          <a:xfrm>
            <a:off x="6739128" y="1325880"/>
            <a:ext cx="468172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0"/>
          <p:cNvSpPr/>
          <p:nvPr/>
        </p:nvSpPr>
        <p:spPr>
          <a:xfrm>
            <a:off x="6830568" y="1380744"/>
            <a:ext cx="44622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0"/>
          <p:cNvSpPr/>
          <p:nvPr/>
        </p:nvSpPr>
        <p:spPr>
          <a:xfrm>
            <a:off x="6254496" y="1892808"/>
            <a:ext cx="5056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 name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0"/>
          <p:cNvSpPr/>
          <p:nvPr/>
        </p:nvSpPr>
        <p:spPr>
          <a:xfrm>
            <a:off x="6254496" y="2148840"/>
            <a:ext cx="506577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0"/>
          <p:cNvSpPr/>
          <p:nvPr/>
        </p:nvSpPr>
        <p:spPr>
          <a:xfrm>
            <a:off x="6355080" y="2249424"/>
            <a:ext cx="4828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0"/>
          <p:cNvSpPr/>
          <p:nvPr/>
        </p:nvSpPr>
        <p:spPr>
          <a:xfrm>
            <a:off x="6254496" y="2660904"/>
            <a:ext cx="1143000" cy="365760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0"/>
          <p:cNvSpPr/>
          <p:nvPr/>
        </p:nvSpPr>
        <p:spPr>
          <a:xfrm>
            <a:off x="6327648" y="2752344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0"/>
          <p:cNvSpPr/>
          <p:nvPr/>
        </p:nvSpPr>
        <p:spPr>
          <a:xfrm>
            <a:off x="6217920" y="3163824"/>
            <a:ext cx="5138928" cy="475488"/>
          </a:xfrm>
          <a:prstGeom prst="roundRect">
            <a:avLst>
              <a:gd fmla="val 5769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0"/>
          <p:cNvSpPr/>
          <p:nvPr/>
        </p:nvSpPr>
        <p:spPr>
          <a:xfrm>
            <a:off x="6345936" y="3264408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Please fill out this field.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0"/>
          <p:cNvSpPr/>
          <p:nvPr/>
        </p:nvSpPr>
        <p:spPr>
          <a:xfrm>
            <a:off x="5961888" y="5577840"/>
            <a:ext cx="5650992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0"/>
          <p:cNvSpPr/>
          <p:nvPr/>
        </p:nvSpPr>
        <p:spPr>
          <a:xfrm>
            <a:off x="5961888" y="5577840"/>
            <a:ext cx="73152" cy="5669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0"/>
          <p:cNvSpPr/>
          <p:nvPr/>
        </p:nvSpPr>
        <p:spPr>
          <a:xfrm>
            <a:off x="6217920" y="5733288"/>
            <a:ext cx="5138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required = the field must satisfy its required-value rule before normal submission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0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1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minlength Attribute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1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minlength through code and browser behaviour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1"/>
          <p:cNvSpPr/>
          <p:nvPr/>
        </p:nvSpPr>
        <p:spPr>
          <a:xfrm>
            <a:off x="566928" y="1234440"/>
            <a:ext cx="51663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1"/>
          <p:cNvSpPr/>
          <p:nvPr/>
        </p:nvSpPr>
        <p:spPr>
          <a:xfrm>
            <a:off x="566928" y="1234440"/>
            <a:ext cx="73152" cy="18745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1"/>
          <p:cNvSpPr/>
          <p:nvPr/>
        </p:nvSpPr>
        <p:spPr>
          <a:xfrm>
            <a:off x="786384" y="1399032"/>
            <a:ext cx="4782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31"/>
          <p:cNvSpPr/>
          <p:nvPr/>
        </p:nvSpPr>
        <p:spPr>
          <a:xfrm>
            <a:off x="859536" y="1682496"/>
            <a:ext cx="459028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minlength defines the minimum number of characters required for text-based controls. It works with the browser’s built-in constraint validation when the user provides a value.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1"/>
          <p:cNvSpPr/>
          <p:nvPr/>
        </p:nvSpPr>
        <p:spPr>
          <a:xfrm>
            <a:off x="566928" y="3310128"/>
            <a:ext cx="5166360" cy="2148840"/>
          </a:xfrm>
          <a:prstGeom prst="roundRect">
            <a:avLst>
              <a:gd fmla="val 255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1"/>
          <p:cNvSpPr/>
          <p:nvPr/>
        </p:nvSpPr>
        <p:spPr>
          <a:xfrm>
            <a:off x="731520" y="341985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31"/>
          <p:cNvSpPr/>
          <p:nvPr/>
        </p:nvSpPr>
        <p:spPr>
          <a:xfrm>
            <a:off x="731520" y="3675888"/>
            <a:ext cx="4837176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name="username" minlength="5" required&gt;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1"/>
          <p:cNvSpPr/>
          <p:nvPr/>
        </p:nvSpPr>
        <p:spPr>
          <a:xfrm>
            <a:off x="5961888" y="1234440"/>
            <a:ext cx="5650992" cy="4206240"/>
          </a:xfrm>
          <a:prstGeom prst="roundRect">
            <a:avLst>
              <a:gd fmla="val 130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1"/>
          <p:cNvSpPr/>
          <p:nvPr/>
        </p:nvSpPr>
        <p:spPr>
          <a:xfrm>
            <a:off x="5961888" y="1234440"/>
            <a:ext cx="565099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1"/>
          <p:cNvSpPr/>
          <p:nvPr/>
        </p:nvSpPr>
        <p:spPr>
          <a:xfrm>
            <a:off x="608990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1"/>
          <p:cNvSpPr/>
          <p:nvPr/>
        </p:nvSpPr>
        <p:spPr>
          <a:xfrm>
            <a:off x="629107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1"/>
          <p:cNvSpPr/>
          <p:nvPr/>
        </p:nvSpPr>
        <p:spPr>
          <a:xfrm>
            <a:off x="649224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1"/>
          <p:cNvSpPr/>
          <p:nvPr/>
        </p:nvSpPr>
        <p:spPr>
          <a:xfrm>
            <a:off x="6739128" y="1325880"/>
            <a:ext cx="468172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1"/>
          <p:cNvSpPr/>
          <p:nvPr/>
        </p:nvSpPr>
        <p:spPr>
          <a:xfrm>
            <a:off x="6830568" y="1380744"/>
            <a:ext cx="44622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1"/>
          <p:cNvSpPr/>
          <p:nvPr/>
        </p:nvSpPr>
        <p:spPr>
          <a:xfrm>
            <a:off x="6254496" y="1892808"/>
            <a:ext cx="5056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Username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1"/>
          <p:cNvSpPr/>
          <p:nvPr/>
        </p:nvSpPr>
        <p:spPr>
          <a:xfrm>
            <a:off x="6254496" y="2148840"/>
            <a:ext cx="506577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1"/>
          <p:cNvSpPr/>
          <p:nvPr/>
        </p:nvSpPr>
        <p:spPr>
          <a:xfrm>
            <a:off x="6355080" y="2249424"/>
            <a:ext cx="4828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1"/>
          <p:cNvSpPr/>
          <p:nvPr/>
        </p:nvSpPr>
        <p:spPr>
          <a:xfrm>
            <a:off x="6254496" y="2660904"/>
            <a:ext cx="1143000" cy="365760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1"/>
          <p:cNvSpPr/>
          <p:nvPr/>
        </p:nvSpPr>
        <p:spPr>
          <a:xfrm>
            <a:off x="6327648" y="2752344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1"/>
          <p:cNvSpPr/>
          <p:nvPr/>
        </p:nvSpPr>
        <p:spPr>
          <a:xfrm>
            <a:off x="6217920" y="3163824"/>
            <a:ext cx="5138928" cy="640080"/>
          </a:xfrm>
          <a:prstGeom prst="roundRect">
            <a:avLst>
              <a:gd fmla="val 4286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1"/>
          <p:cNvSpPr/>
          <p:nvPr/>
        </p:nvSpPr>
        <p:spPr>
          <a:xfrm>
            <a:off x="6345936" y="3264408"/>
            <a:ext cx="4882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 is shorter than the required minimum of 5 characters.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1"/>
          <p:cNvSpPr/>
          <p:nvPr/>
        </p:nvSpPr>
        <p:spPr>
          <a:xfrm>
            <a:off x="5961888" y="5577840"/>
            <a:ext cx="5650992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1"/>
          <p:cNvSpPr/>
          <p:nvPr/>
        </p:nvSpPr>
        <p:spPr>
          <a:xfrm>
            <a:off x="5961888" y="5577840"/>
            <a:ext cx="73152" cy="5669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1"/>
          <p:cNvSpPr/>
          <p:nvPr/>
        </p:nvSpPr>
        <p:spPr>
          <a:xfrm>
            <a:off x="6217920" y="5733288"/>
            <a:ext cx="5138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minlength = minimum number of characters, not minimum numeric value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31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2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autofocus and size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2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autofocus / size through code and browser behaviour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2"/>
          <p:cNvSpPr/>
          <p:nvPr/>
        </p:nvSpPr>
        <p:spPr>
          <a:xfrm>
            <a:off x="566928" y="1234440"/>
            <a:ext cx="51663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2"/>
          <p:cNvSpPr/>
          <p:nvPr/>
        </p:nvSpPr>
        <p:spPr>
          <a:xfrm>
            <a:off x="566928" y="1234440"/>
            <a:ext cx="73152" cy="18745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2"/>
          <p:cNvSpPr/>
          <p:nvPr/>
        </p:nvSpPr>
        <p:spPr>
          <a:xfrm>
            <a:off x="859536" y="1682496"/>
            <a:ext cx="459028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autofocus asks the browser to focus a control when the page loads. size controls the approximate visible width of certain text-like input controls in characters; it does not set the maximum number of characters the user can type.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32"/>
          <p:cNvSpPr/>
          <p:nvPr/>
        </p:nvSpPr>
        <p:spPr>
          <a:xfrm>
            <a:off x="566928" y="3310128"/>
            <a:ext cx="5166360" cy="2148840"/>
          </a:xfrm>
          <a:prstGeom prst="roundRect">
            <a:avLst>
              <a:gd fmla="val 255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2"/>
          <p:cNvSpPr/>
          <p:nvPr/>
        </p:nvSpPr>
        <p:spPr>
          <a:xfrm>
            <a:off x="731520" y="341985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2"/>
          <p:cNvSpPr/>
          <p:nvPr/>
        </p:nvSpPr>
        <p:spPr>
          <a:xfrm>
            <a:off x="731520" y="3675888"/>
            <a:ext cx="4837176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type="text" autofocus size="25"&gt;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2"/>
          <p:cNvSpPr/>
          <p:nvPr/>
        </p:nvSpPr>
        <p:spPr>
          <a:xfrm>
            <a:off x="5961888" y="1234440"/>
            <a:ext cx="5650992" cy="4206240"/>
          </a:xfrm>
          <a:prstGeom prst="roundRect">
            <a:avLst>
              <a:gd fmla="val 130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2"/>
          <p:cNvSpPr/>
          <p:nvPr/>
        </p:nvSpPr>
        <p:spPr>
          <a:xfrm>
            <a:off x="5961888" y="1234440"/>
            <a:ext cx="565099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2"/>
          <p:cNvSpPr/>
          <p:nvPr/>
        </p:nvSpPr>
        <p:spPr>
          <a:xfrm>
            <a:off x="608990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2"/>
          <p:cNvSpPr/>
          <p:nvPr/>
        </p:nvSpPr>
        <p:spPr>
          <a:xfrm>
            <a:off x="629107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2"/>
          <p:cNvSpPr/>
          <p:nvPr/>
        </p:nvSpPr>
        <p:spPr>
          <a:xfrm>
            <a:off x="649224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2"/>
          <p:cNvSpPr/>
          <p:nvPr/>
        </p:nvSpPr>
        <p:spPr>
          <a:xfrm>
            <a:off x="6739128" y="1325880"/>
            <a:ext cx="468172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2"/>
          <p:cNvSpPr/>
          <p:nvPr/>
        </p:nvSpPr>
        <p:spPr>
          <a:xfrm>
            <a:off x="6830568" y="1380744"/>
            <a:ext cx="44622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2"/>
          <p:cNvSpPr/>
          <p:nvPr/>
        </p:nvSpPr>
        <p:spPr>
          <a:xfrm>
            <a:off x="6254496" y="1892808"/>
            <a:ext cx="5056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2"/>
          <p:cNvSpPr/>
          <p:nvPr/>
        </p:nvSpPr>
        <p:spPr>
          <a:xfrm>
            <a:off x="6254496" y="2148840"/>
            <a:ext cx="310896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215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2"/>
          <p:cNvSpPr/>
          <p:nvPr/>
        </p:nvSpPr>
        <p:spPr>
          <a:xfrm>
            <a:off x="6355080" y="2249424"/>
            <a:ext cx="2944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Focused on page load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2"/>
          <p:cNvSpPr/>
          <p:nvPr/>
        </p:nvSpPr>
        <p:spPr>
          <a:xfrm>
            <a:off x="6217920" y="2660904"/>
            <a:ext cx="5138928" cy="475488"/>
          </a:xfrm>
          <a:prstGeom prst="roundRect">
            <a:avLst>
              <a:gd fmla="val 5769" name="adj"/>
            </a:avLst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2"/>
          <p:cNvSpPr/>
          <p:nvPr/>
        </p:nvSpPr>
        <p:spPr>
          <a:xfrm>
            <a:off x="6345936" y="2761488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size affects visible width; maxlength would limit character count.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2"/>
          <p:cNvSpPr/>
          <p:nvPr/>
        </p:nvSpPr>
        <p:spPr>
          <a:xfrm>
            <a:off x="5961888" y="5577840"/>
            <a:ext cx="5650992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2"/>
          <p:cNvSpPr/>
          <p:nvPr/>
        </p:nvSpPr>
        <p:spPr>
          <a:xfrm>
            <a:off x="5961888" y="5577840"/>
            <a:ext cx="73152" cy="56692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2"/>
          <p:cNvSpPr/>
          <p:nvPr/>
        </p:nvSpPr>
        <p:spPr>
          <a:xfrm>
            <a:off x="6217920" y="5733288"/>
            <a:ext cx="5138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autofocus = initial focus • size = visible control width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32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3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input type="password"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3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Used when typed characters should be visually obscured.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3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3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3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password input behaves similarly to a text field, but the browser masks the visible characters. Masking protects the value from shoulder-surfing on screen, but it does not encrypt the network request.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3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Characters are visually hidden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 HTTPS for transport security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Can combine with required and minlength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33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3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33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type="password" name="password" minlength="8" required&gt;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3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3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3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3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3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3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3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3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Password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33"/>
          <p:cNvSpPr/>
          <p:nvPr/>
        </p:nvSpPr>
        <p:spPr>
          <a:xfrm>
            <a:off x="6163056" y="2148840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3"/>
          <p:cNvSpPr/>
          <p:nvPr/>
        </p:nvSpPr>
        <p:spPr>
          <a:xfrm>
            <a:off x="6263640" y="2249424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••••••••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3"/>
          <p:cNvSpPr/>
          <p:nvPr/>
        </p:nvSpPr>
        <p:spPr>
          <a:xfrm>
            <a:off x="6126480" y="2660904"/>
            <a:ext cx="5230368" cy="475488"/>
          </a:xfrm>
          <a:prstGeom prst="roundRect">
            <a:avLst>
              <a:gd fmla="val 5769" name="adj"/>
            </a:avLst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3"/>
          <p:cNvSpPr/>
          <p:nvPr/>
        </p:nvSpPr>
        <p:spPr>
          <a:xfrm>
            <a:off x="6254496" y="2761488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real entered value still exists; the browser only masks its display.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3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4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input type="number"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34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Numeric input with optional range restrictions.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34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4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4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number input is intended for numeric values. min and max define allowed boundaries, while step defines the permitted increment pattern.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4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min = lower boundary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max = upper boundary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step = increment / valid step interval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4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4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4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type="number" name="quantity" min="1" max="10" step="1"&gt;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34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34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4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4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4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4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4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34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Quantity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4"/>
          <p:cNvSpPr/>
          <p:nvPr/>
        </p:nvSpPr>
        <p:spPr>
          <a:xfrm>
            <a:off x="6163056" y="2148840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4"/>
          <p:cNvSpPr/>
          <p:nvPr/>
        </p:nvSpPr>
        <p:spPr>
          <a:xfrm>
            <a:off x="6263640" y="2249424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4"/>
          <p:cNvSpPr/>
          <p:nvPr/>
        </p:nvSpPr>
        <p:spPr>
          <a:xfrm>
            <a:off x="6126480" y="2660904"/>
            <a:ext cx="5230368" cy="475488"/>
          </a:xfrm>
          <a:prstGeom prst="roundRect">
            <a:avLst>
              <a:gd fmla="val 5769" name="adj"/>
            </a:avLst>
          </a:prstGeom>
          <a:solidFill>
            <a:srgbClr val="D1FAE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4"/>
          <p:cNvSpPr/>
          <p:nvPr/>
        </p:nvSpPr>
        <p:spPr>
          <a:xfrm>
            <a:off x="6254496" y="2761488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Valid example range: 1 to 10 • step: 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4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5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min, max and step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5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These attributes describe the allowed number pattern.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35"/>
          <p:cNvSpPr/>
          <p:nvPr/>
        </p:nvSpPr>
        <p:spPr>
          <a:xfrm>
            <a:off x="777240" y="1371600"/>
            <a:ext cx="10561320" cy="987552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5"/>
          <p:cNvSpPr/>
          <p:nvPr/>
        </p:nvSpPr>
        <p:spPr>
          <a:xfrm>
            <a:off x="777240" y="1371600"/>
            <a:ext cx="73152" cy="98755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5"/>
          <p:cNvSpPr/>
          <p:nvPr/>
        </p:nvSpPr>
        <p:spPr>
          <a:xfrm>
            <a:off x="1097280" y="160934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min="1"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2743200" y="1572768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Smallest acceptable value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5"/>
          <p:cNvSpPr/>
          <p:nvPr/>
        </p:nvSpPr>
        <p:spPr>
          <a:xfrm>
            <a:off x="6995160" y="1572768"/>
            <a:ext cx="32918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1, 2, 3...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35"/>
          <p:cNvSpPr/>
          <p:nvPr/>
        </p:nvSpPr>
        <p:spPr>
          <a:xfrm>
            <a:off x="777240" y="2697480"/>
            <a:ext cx="10561320" cy="987552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5"/>
          <p:cNvSpPr/>
          <p:nvPr/>
        </p:nvSpPr>
        <p:spPr>
          <a:xfrm>
            <a:off x="777240" y="2697480"/>
            <a:ext cx="73152" cy="98755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1097280" y="293522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max="10"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5"/>
          <p:cNvSpPr/>
          <p:nvPr/>
        </p:nvSpPr>
        <p:spPr>
          <a:xfrm>
            <a:off x="2743200" y="2898648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Largest acceptable value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5"/>
          <p:cNvSpPr/>
          <p:nvPr/>
        </p:nvSpPr>
        <p:spPr>
          <a:xfrm>
            <a:off x="6995160" y="2898648"/>
            <a:ext cx="32918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...8, 9, 10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35"/>
          <p:cNvSpPr/>
          <p:nvPr/>
        </p:nvSpPr>
        <p:spPr>
          <a:xfrm>
            <a:off x="777240" y="4023360"/>
            <a:ext cx="10561320" cy="987552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5"/>
          <p:cNvSpPr/>
          <p:nvPr/>
        </p:nvSpPr>
        <p:spPr>
          <a:xfrm>
            <a:off x="777240" y="4023360"/>
            <a:ext cx="73152" cy="987552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5"/>
          <p:cNvSpPr/>
          <p:nvPr/>
        </p:nvSpPr>
        <p:spPr>
          <a:xfrm>
            <a:off x="1097280" y="42611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step="2"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35"/>
          <p:cNvSpPr/>
          <p:nvPr/>
        </p:nvSpPr>
        <p:spPr>
          <a:xfrm>
            <a:off x="2743200" y="4224528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Allowed step interval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35"/>
          <p:cNvSpPr/>
          <p:nvPr/>
        </p:nvSpPr>
        <p:spPr>
          <a:xfrm>
            <a:off x="6995160" y="4224528"/>
            <a:ext cx="32918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0, 2, 4, 6... depending on base/min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35"/>
          <p:cNvSpPr/>
          <p:nvPr/>
        </p:nvSpPr>
        <p:spPr>
          <a:xfrm>
            <a:off x="1874525" y="5010901"/>
            <a:ext cx="8458200" cy="1453800"/>
          </a:xfrm>
          <a:prstGeom prst="roundRect">
            <a:avLst>
              <a:gd fmla="val 8000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5"/>
          <p:cNvSpPr/>
          <p:nvPr/>
        </p:nvSpPr>
        <p:spPr>
          <a:xfrm>
            <a:off x="2039112" y="5017008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5"/>
          <p:cNvSpPr/>
          <p:nvPr/>
        </p:nvSpPr>
        <p:spPr>
          <a:xfrm>
            <a:off x="2039112" y="5806440"/>
            <a:ext cx="812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type="number" min="0" max="100" step="5"&gt;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t/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Conceptual sequence: 0 → 5 → 10 → 15 → ... → 100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5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6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input type="range"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36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Creates a slider for choosing a numeric value.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6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6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36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range input lets the user choose a value by moving a slider. It is useful when an approximate or bounded numeric choice is more important than typing an exact value.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36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Supports min, max and step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Current numeric value is not always visibly shown by the control itself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Useful for volume, rating or intensity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36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36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6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type="range" name="volume" min="0" max="100" step="10" value="50"&gt;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6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6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6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6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6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6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6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36"/>
          <p:cNvSpPr/>
          <p:nvPr/>
        </p:nvSpPr>
        <p:spPr>
          <a:xfrm>
            <a:off x="6163056" y="1892808"/>
            <a:ext cx="5157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36"/>
          <p:cNvSpPr/>
          <p:nvPr/>
        </p:nvSpPr>
        <p:spPr>
          <a:xfrm>
            <a:off x="6163056" y="2221992"/>
            <a:ext cx="5157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    ━━━━━●━━━━━    100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36"/>
          <p:cNvSpPr/>
          <p:nvPr/>
        </p:nvSpPr>
        <p:spPr>
          <a:xfrm>
            <a:off x="6126480" y="2551176"/>
            <a:ext cx="5230368" cy="475488"/>
          </a:xfrm>
          <a:prstGeom prst="roundRect">
            <a:avLst>
              <a:gd fmla="val 5769" name="adj"/>
            </a:avLst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6"/>
          <p:cNvSpPr/>
          <p:nvPr/>
        </p:nvSpPr>
        <p:spPr>
          <a:xfrm>
            <a:off x="6254496" y="2651760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value="50" places the slider near the middle.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6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7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input type="email"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37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Email-specific text input with built-in validation behaviour.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7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7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7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email input accepts text but the browser can check whether the entered value follows an email-like format during normal form validation.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7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name identifies submitted value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required can make it mandatory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Built-in validation can reject obviously invalid formats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7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7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7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type="email" name="email" required&gt;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7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7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7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7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37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7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7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7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37"/>
          <p:cNvSpPr/>
          <p:nvPr/>
        </p:nvSpPr>
        <p:spPr>
          <a:xfrm>
            <a:off x="6163056" y="2148840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7"/>
          <p:cNvSpPr/>
          <p:nvPr/>
        </p:nvSpPr>
        <p:spPr>
          <a:xfrm>
            <a:off x="6263640" y="2249424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7"/>
          <p:cNvSpPr/>
          <p:nvPr/>
        </p:nvSpPr>
        <p:spPr>
          <a:xfrm>
            <a:off x="6163056" y="2660904"/>
            <a:ext cx="1143000" cy="365760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7"/>
          <p:cNvSpPr/>
          <p:nvPr/>
        </p:nvSpPr>
        <p:spPr>
          <a:xfrm>
            <a:off x="6236208" y="2752344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37"/>
          <p:cNvSpPr/>
          <p:nvPr/>
        </p:nvSpPr>
        <p:spPr>
          <a:xfrm>
            <a:off x="6126480" y="3163824"/>
            <a:ext cx="5230368" cy="685800"/>
          </a:xfrm>
          <a:prstGeom prst="roundRect">
            <a:avLst>
              <a:gd fmla="val 4000" name="adj"/>
            </a:avLst>
          </a:prstGeom>
          <a:solidFill>
            <a:srgbClr val="FEE2E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7"/>
          <p:cNvSpPr/>
          <p:nvPr/>
        </p:nvSpPr>
        <p:spPr>
          <a:xfrm>
            <a:off x="6254496" y="3264408"/>
            <a:ext cx="49743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Browser can ask for a valid email format, such as including '@'.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7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8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input type="url"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8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Used when the expected value is a URL.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8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8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38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URL input is a text-like control intended for web addresses. During built-in validation, the browser can reject values that do not satisfy URL syntax requirements.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38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Useful for portfolio or website fields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Can combine with required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Exact accepted forms depend on URL parsing rules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8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8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38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type="url" name="portfolio" placeholder="https://example.com"&gt;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38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38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8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8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38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38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38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38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Portfolio URL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8"/>
          <p:cNvSpPr/>
          <p:nvPr/>
        </p:nvSpPr>
        <p:spPr>
          <a:xfrm>
            <a:off x="6163056" y="2148840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38"/>
          <p:cNvSpPr/>
          <p:nvPr/>
        </p:nvSpPr>
        <p:spPr>
          <a:xfrm>
            <a:off x="6263640" y="2249424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https://example.com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8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39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input type="color"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9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Opens a browser/OS color picker.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9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39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9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color input lets the user choose a color visually. The selected value is commonly represented as a color string such as a hexadecimal color value.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9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Useful for theme/customisation settings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Browser renders a color picker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Submitted through its name like other controls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9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39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9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type="color" name="themeColor" value="#6d28d9"&gt;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9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39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39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39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39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39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9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39"/>
          <p:cNvSpPr/>
          <p:nvPr/>
        </p:nvSpPr>
        <p:spPr>
          <a:xfrm>
            <a:off x="6163056" y="1892808"/>
            <a:ext cx="5157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Choose theme color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39"/>
          <p:cNvSpPr/>
          <p:nvPr/>
        </p:nvSpPr>
        <p:spPr>
          <a:xfrm>
            <a:off x="6126480" y="2221992"/>
            <a:ext cx="5230368" cy="475488"/>
          </a:xfrm>
          <a:prstGeom prst="roundRect">
            <a:avLst>
              <a:gd fmla="val 5769" name="adj"/>
            </a:avLst>
          </a:prstGeom>
          <a:solidFill>
            <a:srgbClr val="EDE9FE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39"/>
          <p:cNvSpPr/>
          <p:nvPr/>
        </p:nvSpPr>
        <p:spPr>
          <a:xfrm>
            <a:off x="6254496" y="2322576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#6d28d9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9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40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Date and Time Input Types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40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HTML provides specialised controls for date/time values.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40"/>
          <p:cNvSpPr/>
          <p:nvPr/>
        </p:nvSpPr>
        <p:spPr>
          <a:xfrm>
            <a:off x="731520" y="1371600"/>
            <a:ext cx="530352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40"/>
          <p:cNvSpPr/>
          <p:nvPr/>
        </p:nvSpPr>
        <p:spPr>
          <a:xfrm>
            <a:off x="731520" y="1371600"/>
            <a:ext cx="73152" cy="107899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40"/>
          <p:cNvSpPr/>
          <p:nvPr/>
        </p:nvSpPr>
        <p:spPr>
          <a:xfrm>
            <a:off x="1005840" y="1572768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40"/>
          <p:cNvSpPr/>
          <p:nvPr/>
        </p:nvSpPr>
        <p:spPr>
          <a:xfrm>
            <a:off x="2487168" y="1572768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Calendar date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40"/>
          <p:cNvSpPr/>
          <p:nvPr/>
        </p:nvSpPr>
        <p:spPr>
          <a:xfrm>
            <a:off x="4206240" y="153619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&lt;input type="date" name="dob"&gt;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40"/>
          <p:cNvSpPr/>
          <p:nvPr/>
        </p:nvSpPr>
        <p:spPr>
          <a:xfrm>
            <a:off x="731520" y="2788920"/>
            <a:ext cx="530352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731520" y="2788920"/>
            <a:ext cx="73152" cy="107899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1005840" y="2990088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40"/>
          <p:cNvSpPr/>
          <p:nvPr/>
        </p:nvSpPr>
        <p:spPr>
          <a:xfrm>
            <a:off x="2487168" y="2990088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Time of day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40"/>
          <p:cNvSpPr/>
          <p:nvPr/>
        </p:nvSpPr>
        <p:spPr>
          <a:xfrm>
            <a:off x="4206240" y="295351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&lt;input type="time" name="classTime"&gt;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731520" y="4206240"/>
            <a:ext cx="530352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731520" y="4206240"/>
            <a:ext cx="73152" cy="1078992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40"/>
          <p:cNvSpPr/>
          <p:nvPr/>
        </p:nvSpPr>
        <p:spPr>
          <a:xfrm>
            <a:off x="1005840" y="4407408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700"/>
              <a:buFont typeface="Arial"/>
              <a:buNone/>
            </a:pPr>
            <a:r>
              <a:rPr b="1" i="0" lang="en-US" sz="16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datetime-local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40"/>
          <p:cNvSpPr/>
          <p:nvPr/>
        </p:nvSpPr>
        <p:spPr>
          <a:xfrm>
            <a:off x="2487168" y="4407408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Local date + time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40"/>
          <p:cNvSpPr/>
          <p:nvPr/>
        </p:nvSpPr>
        <p:spPr>
          <a:xfrm>
            <a:off x="4206240" y="437083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&lt;input type="datetime-local" name="meeting"&gt;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40"/>
          <p:cNvSpPr/>
          <p:nvPr/>
        </p:nvSpPr>
        <p:spPr>
          <a:xfrm>
            <a:off x="6355080" y="1371600"/>
            <a:ext cx="493776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40"/>
          <p:cNvSpPr/>
          <p:nvPr/>
        </p:nvSpPr>
        <p:spPr>
          <a:xfrm>
            <a:off x="6355080" y="1371600"/>
            <a:ext cx="493776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40"/>
          <p:cNvSpPr/>
          <p:nvPr/>
        </p:nvSpPr>
        <p:spPr>
          <a:xfrm>
            <a:off x="6483096" y="152704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40"/>
          <p:cNvSpPr/>
          <p:nvPr/>
        </p:nvSpPr>
        <p:spPr>
          <a:xfrm>
            <a:off x="6684264" y="152704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40"/>
          <p:cNvSpPr/>
          <p:nvPr/>
        </p:nvSpPr>
        <p:spPr>
          <a:xfrm>
            <a:off x="6885432" y="152704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40"/>
          <p:cNvSpPr/>
          <p:nvPr/>
        </p:nvSpPr>
        <p:spPr>
          <a:xfrm>
            <a:off x="7132320" y="1463040"/>
            <a:ext cx="3968496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40"/>
          <p:cNvSpPr/>
          <p:nvPr/>
        </p:nvSpPr>
        <p:spPr>
          <a:xfrm>
            <a:off x="7223760" y="1517904"/>
            <a:ext cx="3749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40"/>
          <p:cNvSpPr/>
          <p:nvPr/>
        </p:nvSpPr>
        <p:spPr>
          <a:xfrm>
            <a:off x="6647688" y="2029968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40"/>
          <p:cNvSpPr/>
          <p:nvPr/>
        </p:nvSpPr>
        <p:spPr>
          <a:xfrm>
            <a:off x="6647688" y="2286000"/>
            <a:ext cx="4352544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6748272" y="238658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2026-09-23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40"/>
          <p:cNvSpPr/>
          <p:nvPr/>
        </p:nvSpPr>
        <p:spPr>
          <a:xfrm>
            <a:off x="6647688" y="2798064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40"/>
          <p:cNvSpPr/>
          <p:nvPr/>
        </p:nvSpPr>
        <p:spPr>
          <a:xfrm>
            <a:off x="6647688" y="3054096"/>
            <a:ext cx="4352544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40"/>
          <p:cNvSpPr/>
          <p:nvPr/>
        </p:nvSpPr>
        <p:spPr>
          <a:xfrm>
            <a:off x="6748272" y="315468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10:30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40"/>
          <p:cNvSpPr/>
          <p:nvPr/>
        </p:nvSpPr>
        <p:spPr>
          <a:xfrm>
            <a:off x="6647688" y="3566160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Meeting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40"/>
          <p:cNvSpPr/>
          <p:nvPr/>
        </p:nvSpPr>
        <p:spPr>
          <a:xfrm>
            <a:off x="6647688" y="3822192"/>
            <a:ext cx="4352544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40"/>
          <p:cNvSpPr/>
          <p:nvPr/>
        </p:nvSpPr>
        <p:spPr>
          <a:xfrm>
            <a:off x="6748272" y="3922776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2026-09-23 10:30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40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41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input type="file"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41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Lets the user choose a file from their device.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41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41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41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file input opens the browser/operating-system file picker. HTML can let the user select a file, but actually receiving and storing the uploaded file requires server-side handling.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41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HTML creates the file picker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browser does not upload to a database by itself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Server-side processing is needed for real uploads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41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41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41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type="file" name="resume"&gt;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41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41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41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41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41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41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41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41"/>
          <p:cNvSpPr/>
          <p:nvPr/>
        </p:nvSpPr>
        <p:spPr>
          <a:xfrm>
            <a:off x="6163056" y="1892808"/>
            <a:ext cx="5157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Resume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6126480" y="2221992"/>
            <a:ext cx="5230368" cy="475488"/>
          </a:xfrm>
          <a:prstGeom prst="roundRect">
            <a:avLst>
              <a:gd fmla="val 576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41"/>
          <p:cNvSpPr/>
          <p:nvPr/>
        </p:nvSpPr>
        <p:spPr>
          <a:xfrm>
            <a:off x="6254496" y="2322576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Choose File    No file chosen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41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42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Radio Buttons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42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radio buttons when exactly one option should be chosen from a group.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42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42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42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radio button is created with type="radio". Multiple radio buttons become one logical group when they share the same name. Selecting one option automatically deselects the other option in that group.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42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Same name = same group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 identifies each option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checked can preselect one option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42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42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42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name="course" value="web"&gt; Web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name="course" value="ai" checked&gt; AI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name="course" value="ml"&gt; ML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42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42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42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42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42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42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42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42"/>
          <p:cNvSpPr/>
          <p:nvPr/>
        </p:nvSpPr>
        <p:spPr>
          <a:xfrm>
            <a:off x="6181344" y="1892808"/>
            <a:ext cx="51480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○ Web Development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42"/>
          <p:cNvSpPr/>
          <p:nvPr/>
        </p:nvSpPr>
        <p:spPr>
          <a:xfrm>
            <a:off x="6181344" y="2194560"/>
            <a:ext cx="51480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◉ Generative AI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42"/>
          <p:cNvSpPr/>
          <p:nvPr/>
        </p:nvSpPr>
        <p:spPr>
          <a:xfrm>
            <a:off x="6181344" y="2496312"/>
            <a:ext cx="51480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○ Machine Learning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42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43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the Same name Groups Radio Buttons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43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grouping mechanism is based on the name value.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43"/>
          <p:cNvSpPr/>
          <p:nvPr/>
        </p:nvSpPr>
        <p:spPr>
          <a:xfrm>
            <a:off x="777240" y="1417320"/>
            <a:ext cx="4206240" cy="1828800"/>
          </a:xfrm>
          <a:prstGeom prst="roundRect">
            <a:avLst>
              <a:gd fmla="val 3000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43"/>
          <p:cNvSpPr/>
          <p:nvPr/>
        </p:nvSpPr>
        <p:spPr>
          <a:xfrm>
            <a:off x="941832" y="152704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43"/>
          <p:cNvSpPr/>
          <p:nvPr/>
        </p:nvSpPr>
        <p:spPr>
          <a:xfrm>
            <a:off x="941832" y="1783080"/>
            <a:ext cx="3877056" cy="1344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name="course"   value="web"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name="course"   value="ai"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name="course"   value="ml"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43"/>
          <p:cNvSpPr/>
          <p:nvPr/>
        </p:nvSpPr>
        <p:spPr>
          <a:xfrm>
            <a:off x="5230368" y="190195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43"/>
          <p:cNvSpPr/>
          <p:nvPr/>
        </p:nvSpPr>
        <p:spPr>
          <a:xfrm>
            <a:off x="6080760" y="1417320"/>
            <a:ext cx="502920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43"/>
          <p:cNvSpPr/>
          <p:nvPr/>
        </p:nvSpPr>
        <p:spPr>
          <a:xfrm>
            <a:off x="6080760" y="1417320"/>
            <a:ext cx="73152" cy="18288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43"/>
          <p:cNvSpPr/>
          <p:nvPr/>
        </p:nvSpPr>
        <p:spPr>
          <a:xfrm>
            <a:off x="6300216" y="1581912"/>
            <a:ext cx="4645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Same group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43"/>
          <p:cNvSpPr/>
          <p:nvPr/>
        </p:nvSpPr>
        <p:spPr>
          <a:xfrm>
            <a:off x="6446520" y="1947672"/>
            <a:ext cx="4251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All controls have name="course", so only one of them can remain selected at a time.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43"/>
          <p:cNvSpPr/>
          <p:nvPr/>
        </p:nvSpPr>
        <p:spPr>
          <a:xfrm>
            <a:off x="1920240" y="3840480"/>
            <a:ext cx="83210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43"/>
          <p:cNvSpPr/>
          <p:nvPr/>
        </p:nvSpPr>
        <p:spPr>
          <a:xfrm>
            <a:off x="1920240" y="3840480"/>
            <a:ext cx="73152" cy="14173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43"/>
          <p:cNvSpPr/>
          <p:nvPr/>
        </p:nvSpPr>
        <p:spPr>
          <a:xfrm>
            <a:off x="2139696" y="4005072"/>
            <a:ext cx="7936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gets submitted?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43"/>
          <p:cNvSpPr/>
          <p:nvPr/>
        </p:nvSpPr>
        <p:spPr>
          <a:xfrm>
            <a:off x="2331720" y="4407408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If AI is selected → course=ai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43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44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Radio Attributes: value and checked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44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value / checked through code and browser behaviour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44"/>
          <p:cNvSpPr/>
          <p:nvPr/>
        </p:nvSpPr>
        <p:spPr>
          <a:xfrm>
            <a:off x="566928" y="1234440"/>
            <a:ext cx="51663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44"/>
          <p:cNvSpPr/>
          <p:nvPr/>
        </p:nvSpPr>
        <p:spPr>
          <a:xfrm>
            <a:off x="566928" y="1234440"/>
            <a:ext cx="73152" cy="18745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44"/>
          <p:cNvSpPr/>
          <p:nvPr/>
        </p:nvSpPr>
        <p:spPr>
          <a:xfrm>
            <a:off x="786384" y="1399032"/>
            <a:ext cx="4782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44"/>
          <p:cNvSpPr/>
          <p:nvPr/>
        </p:nvSpPr>
        <p:spPr>
          <a:xfrm>
            <a:off x="859536" y="1682496"/>
            <a:ext cx="459028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For a radio button, value is the data associated with that particular choice. checked makes an option initially selected when the page is loaded.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44"/>
          <p:cNvSpPr/>
          <p:nvPr/>
        </p:nvSpPr>
        <p:spPr>
          <a:xfrm>
            <a:off x="566928" y="3310128"/>
            <a:ext cx="5166360" cy="2148840"/>
          </a:xfrm>
          <a:prstGeom prst="roundRect">
            <a:avLst>
              <a:gd fmla="val 255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44"/>
          <p:cNvSpPr/>
          <p:nvPr/>
        </p:nvSpPr>
        <p:spPr>
          <a:xfrm>
            <a:off x="731520" y="341985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44"/>
          <p:cNvSpPr/>
          <p:nvPr/>
        </p:nvSpPr>
        <p:spPr>
          <a:xfrm>
            <a:off x="731520" y="3675888"/>
            <a:ext cx="4837176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name="level" value="beginner" checked&gt; Beginner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type="radio" name="level" value="advanced"&gt; Advanced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44"/>
          <p:cNvSpPr/>
          <p:nvPr/>
        </p:nvSpPr>
        <p:spPr>
          <a:xfrm>
            <a:off x="5961888" y="1234440"/>
            <a:ext cx="5650992" cy="4206240"/>
          </a:xfrm>
          <a:prstGeom prst="roundRect">
            <a:avLst>
              <a:gd fmla="val 130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44"/>
          <p:cNvSpPr/>
          <p:nvPr/>
        </p:nvSpPr>
        <p:spPr>
          <a:xfrm>
            <a:off x="5961888" y="1234440"/>
            <a:ext cx="565099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44"/>
          <p:cNvSpPr/>
          <p:nvPr/>
        </p:nvSpPr>
        <p:spPr>
          <a:xfrm>
            <a:off x="608990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44"/>
          <p:cNvSpPr/>
          <p:nvPr/>
        </p:nvSpPr>
        <p:spPr>
          <a:xfrm>
            <a:off x="629107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44"/>
          <p:cNvSpPr/>
          <p:nvPr/>
        </p:nvSpPr>
        <p:spPr>
          <a:xfrm>
            <a:off x="649224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44"/>
          <p:cNvSpPr/>
          <p:nvPr/>
        </p:nvSpPr>
        <p:spPr>
          <a:xfrm>
            <a:off x="6739128" y="1325880"/>
            <a:ext cx="468172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44"/>
          <p:cNvSpPr/>
          <p:nvPr/>
        </p:nvSpPr>
        <p:spPr>
          <a:xfrm>
            <a:off x="6830568" y="1380744"/>
            <a:ext cx="44622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44"/>
          <p:cNvSpPr/>
          <p:nvPr/>
        </p:nvSpPr>
        <p:spPr>
          <a:xfrm>
            <a:off x="6272784" y="1892808"/>
            <a:ext cx="5056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◉ Beginner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44"/>
          <p:cNvSpPr/>
          <p:nvPr/>
        </p:nvSpPr>
        <p:spPr>
          <a:xfrm>
            <a:off x="6272784" y="2194560"/>
            <a:ext cx="5056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○ Advanced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44"/>
          <p:cNvSpPr/>
          <p:nvPr/>
        </p:nvSpPr>
        <p:spPr>
          <a:xfrm>
            <a:off x="6217920" y="2496312"/>
            <a:ext cx="5138928" cy="475488"/>
          </a:xfrm>
          <a:prstGeom prst="roundRect">
            <a:avLst>
              <a:gd fmla="val 5769" name="adj"/>
            </a:avLst>
          </a:prstGeom>
          <a:solidFill>
            <a:srgbClr val="D1FAE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4"/>
          <p:cNvSpPr/>
          <p:nvPr/>
        </p:nvSpPr>
        <p:spPr>
          <a:xfrm>
            <a:off x="6345936" y="2596896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If unchanged, the submitted pair is level=beginner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44"/>
          <p:cNvSpPr/>
          <p:nvPr/>
        </p:nvSpPr>
        <p:spPr>
          <a:xfrm>
            <a:off x="5961888" y="5577840"/>
            <a:ext cx="5650992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44"/>
          <p:cNvSpPr/>
          <p:nvPr/>
        </p:nvSpPr>
        <p:spPr>
          <a:xfrm>
            <a:off x="5961888" y="5577840"/>
            <a:ext cx="73152" cy="56692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44"/>
          <p:cNvSpPr/>
          <p:nvPr/>
        </p:nvSpPr>
        <p:spPr>
          <a:xfrm>
            <a:off x="6217920" y="5733288"/>
            <a:ext cx="5138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Radio: name creates the group • value identifies the choice • checked sets the initial choice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44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45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Checkboxes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45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checkboxes when multiple independent choices are allowed.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45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45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45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checkbox is created using type="checkbox". Unlike a radio group, multiple checkboxes can remain selected at the same time. checked can preselect an option.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45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Multiple boxes may be selected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 identifies what a checked box represents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Unchecked checkboxes are generally not submitted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45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45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45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type="checkbox" name="skill" value="html" checked&gt; HTML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type="checkbox" name="skill" value="css"&gt; CSS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type="checkbox" name="skill" value="js"&gt; JavaScript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45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45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45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45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45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45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45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45"/>
          <p:cNvSpPr/>
          <p:nvPr/>
        </p:nvSpPr>
        <p:spPr>
          <a:xfrm>
            <a:off x="6181344" y="1892808"/>
            <a:ext cx="51480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☑ HTML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45"/>
          <p:cNvSpPr/>
          <p:nvPr/>
        </p:nvSpPr>
        <p:spPr>
          <a:xfrm>
            <a:off x="6181344" y="2194560"/>
            <a:ext cx="51480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☐ CSS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45"/>
          <p:cNvSpPr/>
          <p:nvPr/>
        </p:nvSpPr>
        <p:spPr>
          <a:xfrm>
            <a:off x="6181344" y="2496312"/>
            <a:ext cx="51480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☐ JavaScript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45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46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Radio vs Checkbox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46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Choose the control based on the selection rule.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46"/>
          <p:cNvSpPr/>
          <p:nvPr/>
        </p:nvSpPr>
        <p:spPr>
          <a:xfrm>
            <a:off x="713232" y="1353312"/>
            <a:ext cx="5212080" cy="4297680"/>
          </a:xfrm>
          <a:prstGeom prst="roundRect">
            <a:avLst>
              <a:gd fmla="val 17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46"/>
          <p:cNvSpPr/>
          <p:nvPr/>
        </p:nvSpPr>
        <p:spPr>
          <a:xfrm>
            <a:off x="713232" y="1353312"/>
            <a:ext cx="73152" cy="429768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46"/>
          <p:cNvSpPr/>
          <p:nvPr/>
        </p:nvSpPr>
        <p:spPr>
          <a:xfrm>
            <a:off x="932688" y="1517904"/>
            <a:ext cx="4828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RADIO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46"/>
          <p:cNvSpPr/>
          <p:nvPr/>
        </p:nvSpPr>
        <p:spPr>
          <a:xfrm>
            <a:off x="1005840" y="1874520"/>
            <a:ext cx="4617720" cy="224028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46"/>
          <p:cNvSpPr/>
          <p:nvPr/>
        </p:nvSpPr>
        <p:spPr>
          <a:xfrm>
            <a:off x="1005840" y="1874520"/>
            <a:ext cx="461772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46"/>
          <p:cNvSpPr/>
          <p:nvPr/>
        </p:nvSpPr>
        <p:spPr>
          <a:xfrm>
            <a:off x="1133856" y="202996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46"/>
          <p:cNvSpPr/>
          <p:nvPr/>
        </p:nvSpPr>
        <p:spPr>
          <a:xfrm>
            <a:off x="1335024" y="202996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46"/>
          <p:cNvSpPr/>
          <p:nvPr/>
        </p:nvSpPr>
        <p:spPr>
          <a:xfrm>
            <a:off x="1536192" y="202996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46"/>
          <p:cNvSpPr/>
          <p:nvPr/>
        </p:nvSpPr>
        <p:spPr>
          <a:xfrm>
            <a:off x="1783080" y="1965960"/>
            <a:ext cx="3648456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46"/>
          <p:cNvSpPr/>
          <p:nvPr/>
        </p:nvSpPr>
        <p:spPr>
          <a:xfrm>
            <a:off x="1874520" y="2020824"/>
            <a:ext cx="3429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46"/>
          <p:cNvSpPr/>
          <p:nvPr/>
        </p:nvSpPr>
        <p:spPr>
          <a:xfrm>
            <a:off x="1316736" y="253288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◉ Beginner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46"/>
          <p:cNvSpPr/>
          <p:nvPr/>
        </p:nvSpPr>
        <p:spPr>
          <a:xfrm>
            <a:off x="1316736" y="28346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○ Intermediate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46"/>
          <p:cNvSpPr/>
          <p:nvPr/>
        </p:nvSpPr>
        <p:spPr>
          <a:xfrm>
            <a:off x="1316736" y="313639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○ Advanced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46"/>
          <p:cNvSpPr/>
          <p:nvPr/>
        </p:nvSpPr>
        <p:spPr>
          <a:xfrm>
            <a:off x="1005840" y="44531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 when one option should be selected from the group.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46"/>
          <p:cNvSpPr/>
          <p:nvPr/>
        </p:nvSpPr>
        <p:spPr>
          <a:xfrm>
            <a:off x="6263640" y="1353312"/>
            <a:ext cx="5212080" cy="4297680"/>
          </a:xfrm>
          <a:prstGeom prst="roundRect">
            <a:avLst>
              <a:gd fmla="val 17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6"/>
          <p:cNvSpPr/>
          <p:nvPr/>
        </p:nvSpPr>
        <p:spPr>
          <a:xfrm>
            <a:off x="6263640" y="1353312"/>
            <a:ext cx="73152" cy="42976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6"/>
          <p:cNvSpPr/>
          <p:nvPr/>
        </p:nvSpPr>
        <p:spPr>
          <a:xfrm>
            <a:off x="6483096" y="1517904"/>
            <a:ext cx="4828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CHECKBOX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46"/>
          <p:cNvSpPr/>
          <p:nvPr/>
        </p:nvSpPr>
        <p:spPr>
          <a:xfrm>
            <a:off x="6556248" y="1874520"/>
            <a:ext cx="4617720" cy="224028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46"/>
          <p:cNvSpPr/>
          <p:nvPr/>
        </p:nvSpPr>
        <p:spPr>
          <a:xfrm>
            <a:off x="6556248" y="1874520"/>
            <a:ext cx="461772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46"/>
          <p:cNvSpPr/>
          <p:nvPr/>
        </p:nvSpPr>
        <p:spPr>
          <a:xfrm>
            <a:off x="6684264" y="202996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46"/>
          <p:cNvSpPr/>
          <p:nvPr/>
        </p:nvSpPr>
        <p:spPr>
          <a:xfrm>
            <a:off x="6885432" y="202996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46"/>
          <p:cNvSpPr/>
          <p:nvPr/>
        </p:nvSpPr>
        <p:spPr>
          <a:xfrm>
            <a:off x="7086600" y="202996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46"/>
          <p:cNvSpPr/>
          <p:nvPr/>
        </p:nvSpPr>
        <p:spPr>
          <a:xfrm>
            <a:off x="7333488" y="1965960"/>
            <a:ext cx="3648456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46"/>
          <p:cNvSpPr/>
          <p:nvPr/>
        </p:nvSpPr>
        <p:spPr>
          <a:xfrm>
            <a:off x="7424928" y="2020824"/>
            <a:ext cx="3429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46"/>
          <p:cNvSpPr/>
          <p:nvPr/>
        </p:nvSpPr>
        <p:spPr>
          <a:xfrm>
            <a:off x="6867144" y="253288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☑ HTML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46"/>
          <p:cNvSpPr/>
          <p:nvPr/>
        </p:nvSpPr>
        <p:spPr>
          <a:xfrm>
            <a:off x="6867144" y="28346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☑ CSS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46"/>
          <p:cNvSpPr/>
          <p:nvPr/>
        </p:nvSpPr>
        <p:spPr>
          <a:xfrm>
            <a:off x="6867144" y="313639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☐ JavaScript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46"/>
          <p:cNvSpPr/>
          <p:nvPr/>
        </p:nvSpPr>
        <p:spPr>
          <a:xfrm>
            <a:off x="6556248" y="44531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 when zero, one or many independent choices may be selected.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46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47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Dropdown List: &lt;select&gt; and &lt;option&gt;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47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dropdown presents a controlled list of choices.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47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47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47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&lt;select&gt; element creates the control, while each &lt;option&gt; represents one choice. The select usually has the name because it represents the submitted field.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47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&lt;select&gt; = container/control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&lt;option&gt; = individual choice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Option value is what gets submitted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47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47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47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&lt;select name="city"&gt;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&lt;option value="delhi"&gt;Delhi&lt;/option&gt;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&lt;option value="noida"&gt;Noida&lt;/option&gt;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&lt;/select&gt;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47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47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47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47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7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7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7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47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47"/>
          <p:cNvSpPr/>
          <p:nvPr/>
        </p:nvSpPr>
        <p:spPr>
          <a:xfrm>
            <a:off x="6163056" y="2148840"/>
            <a:ext cx="29260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7"/>
          <p:cNvSpPr/>
          <p:nvPr/>
        </p:nvSpPr>
        <p:spPr>
          <a:xfrm>
            <a:off x="6263640" y="2249424"/>
            <a:ext cx="2724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Noida     ▾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47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48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Option Attributes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48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value / selected / disabled through code and browser behaviour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48"/>
          <p:cNvSpPr/>
          <p:nvPr/>
        </p:nvSpPr>
        <p:spPr>
          <a:xfrm>
            <a:off x="566928" y="1234440"/>
            <a:ext cx="516636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48"/>
          <p:cNvSpPr/>
          <p:nvPr/>
        </p:nvSpPr>
        <p:spPr>
          <a:xfrm>
            <a:off x="566928" y="1234440"/>
            <a:ext cx="73152" cy="18745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48"/>
          <p:cNvSpPr/>
          <p:nvPr/>
        </p:nvSpPr>
        <p:spPr>
          <a:xfrm>
            <a:off x="786384" y="1399032"/>
            <a:ext cx="4782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48"/>
          <p:cNvSpPr/>
          <p:nvPr/>
        </p:nvSpPr>
        <p:spPr>
          <a:xfrm>
            <a:off x="859536" y="1682496"/>
            <a:ext cx="459028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10"/>
              <a:buFont typeface="Arial"/>
              <a:buNone/>
            </a:pPr>
            <a:r>
              <a:rPr b="0" i="0" lang="en-US" sz="171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 defines the submitted value for an option. selected makes an option initially selected. disabled makes an option unavailable for selection.</a:t>
            </a:r>
            <a:endParaRPr b="0" i="0" sz="1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48"/>
          <p:cNvSpPr/>
          <p:nvPr/>
        </p:nvSpPr>
        <p:spPr>
          <a:xfrm>
            <a:off x="566928" y="3310128"/>
            <a:ext cx="5166360" cy="2148840"/>
          </a:xfrm>
          <a:prstGeom prst="roundRect">
            <a:avLst>
              <a:gd fmla="val 2553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48"/>
          <p:cNvSpPr/>
          <p:nvPr/>
        </p:nvSpPr>
        <p:spPr>
          <a:xfrm>
            <a:off x="731520" y="341985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48"/>
          <p:cNvSpPr/>
          <p:nvPr/>
        </p:nvSpPr>
        <p:spPr>
          <a:xfrm>
            <a:off x="731520" y="3675888"/>
            <a:ext cx="4837176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&lt;select name="course"&gt;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&lt;option value=""&gt;Choose course&lt;/option&gt;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&lt;option value="web" selected&gt;Web Development&lt;/option&gt;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&lt;option value="old" disabled&gt;Old Batch&lt;/option&gt;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&lt;/select&gt;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48"/>
          <p:cNvSpPr/>
          <p:nvPr/>
        </p:nvSpPr>
        <p:spPr>
          <a:xfrm>
            <a:off x="5961888" y="1234440"/>
            <a:ext cx="5650992" cy="4206240"/>
          </a:xfrm>
          <a:prstGeom prst="roundRect">
            <a:avLst>
              <a:gd fmla="val 130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48"/>
          <p:cNvSpPr/>
          <p:nvPr/>
        </p:nvSpPr>
        <p:spPr>
          <a:xfrm>
            <a:off x="5961888" y="1234440"/>
            <a:ext cx="565099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48"/>
          <p:cNvSpPr/>
          <p:nvPr/>
        </p:nvSpPr>
        <p:spPr>
          <a:xfrm>
            <a:off x="608990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48"/>
          <p:cNvSpPr/>
          <p:nvPr/>
        </p:nvSpPr>
        <p:spPr>
          <a:xfrm>
            <a:off x="629107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48"/>
          <p:cNvSpPr/>
          <p:nvPr/>
        </p:nvSpPr>
        <p:spPr>
          <a:xfrm>
            <a:off x="649224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48"/>
          <p:cNvSpPr/>
          <p:nvPr/>
        </p:nvSpPr>
        <p:spPr>
          <a:xfrm>
            <a:off x="6739128" y="1325880"/>
            <a:ext cx="468172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48"/>
          <p:cNvSpPr/>
          <p:nvPr/>
        </p:nvSpPr>
        <p:spPr>
          <a:xfrm>
            <a:off x="6830568" y="1380744"/>
            <a:ext cx="44622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48"/>
          <p:cNvSpPr/>
          <p:nvPr/>
        </p:nvSpPr>
        <p:spPr>
          <a:xfrm>
            <a:off x="6254496" y="1892808"/>
            <a:ext cx="5056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48"/>
          <p:cNvSpPr/>
          <p:nvPr/>
        </p:nvSpPr>
        <p:spPr>
          <a:xfrm>
            <a:off x="6254496" y="2148840"/>
            <a:ext cx="33832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48"/>
          <p:cNvSpPr/>
          <p:nvPr/>
        </p:nvSpPr>
        <p:spPr>
          <a:xfrm>
            <a:off x="6355080" y="2249424"/>
            <a:ext cx="31821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Web Development     ▾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48"/>
          <p:cNvSpPr/>
          <p:nvPr/>
        </p:nvSpPr>
        <p:spPr>
          <a:xfrm>
            <a:off x="6217920" y="2660904"/>
            <a:ext cx="5138928" cy="475488"/>
          </a:xfrm>
          <a:prstGeom prst="roundRect">
            <a:avLst>
              <a:gd fmla="val 5769" name="adj"/>
            </a:avLst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48"/>
          <p:cNvSpPr/>
          <p:nvPr/>
        </p:nvSpPr>
        <p:spPr>
          <a:xfrm>
            <a:off x="6345936" y="2761488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selected = initial choice • disabled = cannot be chosen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48"/>
          <p:cNvSpPr/>
          <p:nvPr/>
        </p:nvSpPr>
        <p:spPr>
          <a:xfrm>
            <a:off x="5961888" y="5577840"/>
            <a:ext cx="5650992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48"/>
          <p:cNvSpPr/>
          <p:nvPr/>
        </p:nvSpPr>
        <p:spPr>
          <a:xfrm>
            <a:off x="5961888" y="5577840"/>
            <a:ext cx="73152" cy="5669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48"/>
          <p:cNvSpPr/>
          <p:nvPr/>
        </p:nvSpPr>
        <p:spPr>
          <a:xfrm>
            <a:off x="6217920" y="5733288"/>
            <a:ext cx="5138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visible option text and submitted option value can be different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48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49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&lt;optgroup&gt;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49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Groups related options inside a select list.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49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49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49"/>
          <p:cNvSpPr/>
          <p:nvPr/>
        </p:nvSpPr>
        <p:spPr>
          <a:xfrm>
            <a:off x="786384" y="1399032"/>
            <a:ext cx="4690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49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optgroup improves organisation when a dropdown contains many related choices. The label attribute gives the group a visible category name.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49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Useful for long dropdowns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Creates visual grouping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Does not itself become the selected value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49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49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49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&lt;select name="course"&gt;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&lt;optgroup label="Development"&gt;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&lt;option&gt;Web Development&lt;/option&gt;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&lt;option&gt;App Development&lt;/option&gt;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&lt;/optgroup&gt;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&lt;/select&gt;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49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49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49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49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49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49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49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49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49"/>
          <p:cNvSpPr/>
          <p:nvPr/>
        </p:nvSpPr>
        <p:spPr>
          <a:xfrm>
            <a:off x="6163056" y="2148840"/>
            <a:ext cx="38404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49"/>
          <p:cNvSpPr/>
          <p:nvPr/>
        </p:nvSpPr>
        <p:spPr>
          <a:xfrm>
            <a:off x="6263640" y="2249424"/>
            <a:ext cx="3639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Development → Web Development     ▾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49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50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Listbox with &lt;select&gt;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50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select can show several options at once instead of a collapsed dropdown.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50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0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0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size attribute makes multiple rows visible. The multiple attribute allows more than one option to be selected. Without multiple, the user still makes a single selection even if several rows are visible.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50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size = visible rows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multiple = allow multiple selection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Still uses &lt;option&gt; elements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50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50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50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&lt;select name="skills" size="4" multiple&gt;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&lt;option&gt;HTML&lt;/option&gt;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&lt;option&gt;CSS&lt;/option&gt;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&lt;option&gt;JavaScript&lt;/option&gt;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&lt;option&gt;React&lt;/option&gt;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&lt;/select&gt;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50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50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50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50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50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50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50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50"/>
          <p:cNvSpPr/>
          <p:nvPr/>
        </p:nvSpPr>
        <p:spPr>
          <a:xfrm>
            <a:off x="6126480" y="1892808"/>
            <a:ext cx="5230368" cy="16459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50"/>
          <p:cNvSpPr/>
          <p:nvPr/>
        </p:nvSpPr>
        <p:spPr>
          <a:xfrm>
            <a:off x="6254496" y="1993392"/>
            <a:ext cx="497433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50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51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&lt;datalist&gt;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51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Provides suggestions while keeping the input editable.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51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51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51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datalist contains suggested values for an input. The input connects to it using the list attribute. Unlike a normal select dropdown, the user can still type a value that is not one of the suggestions.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51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input uses list="..."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datalist uses matching id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Suggestions do not necessarily restrict the user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51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51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51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name="browser" list="browsers"&gt;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&lt;datalist id="browsers"&gt;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&lt;option value="Chrome"&gt;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&lt;option value="Firefox"&gt;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&lt;option value="Edge"&gt;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&lt;/datalist&gt;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51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1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1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1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1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1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1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51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51"/>
          <p:cNvSpPr/>
          <p:nvPr/>
        </p:nvSpPr>
        <p:spPr>
          <a:xfrm>
            <a:off x="6163056" y="2148840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51"/>
          <p:cNvSpPr/>
          <p:nvPr/>
        </p:nvSpPr>
        <p:spPr>
          <a:xfrm>
            <a:off x="6263640" y="2249424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51"/>
          <p:cNvSpPr/>
          <p:nvPr/>
        </p:nvSpPr>
        <p:spPr>
          <a:xfrm>
            <a:off x="6126480" y="2660904"/>
            <a:ext cx="5230368" cy="475488"/>
          </a:xfrm>
          <a:prstGeom prst="roundRect">
            <a:avLst>
              <a:gd fmla="val 5769" name="adj"/>
            </a:avLst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51"/>
          <p:cNvSpPr/>
          <p:nvPr/>
        </p:nvSpPr>
        <p:spPr>
          <a:xfrm>
            <a:off x="6254496" y="2761488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Suggestions: Chrome · Chromium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51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52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&lt;select&gt; vs &lt;datalist&gt;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52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Both show choices, but they do not enforce the same interaction.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52"/>
          <p:cNvSpPr/>
          <p:nvPr/>
        </p:nvSpPr>
        <p:spPr>
          <a:xfrm>
            <a:off x="731520" y="1325880"/>
            <a:ext cx="5212080" cy="4343400"/>
          </a:xfrm>
          <a:prstGeom prst="roundRect">
            <a:avLst>
              <a:gd fmla="val 168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52"/>
          <p:cNvSpPr/>
          <p:nvPr/>
        </p:nvSpPr>
        <p:spPr>
          <a:xfrm>
            <a:off x="731520" y="1325880"/>
            <a:ext cx="73152" cy="43434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52"/>
          <p:cNvSpPr/>
          <p:nvPr/>
        </p:nvSpPr>
        <p:spPr>
          <a:xfrm>
            <a:off x="950976" y="1490472"/>
            <a:ext cx="4828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&lt;select&gt;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52"/>
          <p:cNvSpPr/>
          <p:nvPr/>
        </p:nvSpPr>
        <p:spPr>
          <a:xfrm>
            <a:off x="1005840" y="178308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user chooses from the provided options. It is a dedicated selection control.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52"/>
          <p:cNvSpPr/>
          <p:nvPr/>
        </p:nvSpPr>
        <p:spPr>
          <a:xfrm>
            <a:off x="1005840" y="2743200"/>
            <a:ext cx="4572000" cy="164592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52"/>
          <p:cNvSpPr/>
          <p:nvPr/>
        </p:nvSpPr>
        <p:spPr>
          <a:xfrm>
            <a:off x="1005840" y="2743200"/>
            <a:ext cx="457200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52"/>
          <p:cNvSpPr/>
          <p:nvPr/>
        </p:nvSpPr>
        <p:spPr>
          <a:xfrm>
            <a:off x="1133856" y="289864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52"/>
          <p:cNvSpPr/>
          <p:nvPr/>
        </p:nvSpPr>
        <p:spPr>
          <a:xfrm>
            <a:off x="1335024" y="289864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52"/>
          <p:cNvSpPr/>
          <p:nvPr/>
        </p:nvSpPr>
        <p:spPr>
          <a:xfrm>
            <a:off x="1536192" y="289864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52"/>
          <p:cNvSpPr/>
          <p:nvPr/>
        </p:nvSpPr>
        <p:spPr>
          <a:xfrm>
            <a:off x="1783080" y="2834640"/>
            <a:ext cx="3602736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52"/>
          <p:cNvSpPr/>
          <p:nvPr/>
        </p:nvSpPr>
        <p:spPr>
          <a:xfrm>
            <a:off x="1874520" y="2889504"/>
            <a:ext cx="33832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52"/>
          <p:cNvSpPr/>
          <p:nvPr/>
        </p:nvSpPr>
        <p:spPr>
          <a:xfrm>
            <a:off x="1298448" y="3401568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52"/>
          <p:cNvSpPr/>
          <p:nvPr/>
        </p:nvSpPr>
        <p:spPr>
          <a:xfrm>
            <a:off x="1298448" y="3657600"/>
            <a:ext cx="283464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52"/>
          <p:cNvSpPr/>
          <p:nvPr/>
        </p:nvSpPr>
        <p:spPr>
          <a:xfrm>
            <a:off x="1399032" y="3758184"/>
            <a:ext cx="2633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Noida     ▾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52"/>
          <p:cNvSpPr/>
          <p:nvPr/>
        </p:nvSpPr>
        <p:spPr>
          <a:xfrm>
            <a:off x="6263640" y="1325880"/>
            <a:ext cx="5212080" cy="4343400"/>
          </a:xfrm>
          <a:prstGeom prst="roundRect">
            <a:avLst>
              <a:gd fmla="val 168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2"/>
          <p:cNvSpPr/>
          <p:nvPr/>
        </p:nvSpPr>
        <p:spPr>
          <a:xfrm>
            <a:off x="6263640" y="1325880"/>
            <a:ext cx="73152" cy="4343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2"/>
          <p:cNvSpPr/>
          <p:nvPr/>
        </p:nvSpPr>
        <p:spPr>
          <a:xfrm>
            <a:off x="6483096" y="1490472"/>
            <a:ext cx="4828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&lt;datalist&gt;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52"/>
          <p:cNvSpPr/>
          <p:nvPr/>
        </p:nvSpPr>
        <p:spPr>
          <a:xfrm>
            <a:off x="6537960" y="178308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input remains a text field. Suggestions are offered, but the user can often type another value.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52"/>
          <p:cNvSpPr/>
          <p:nvPr/>
        </p:nvSpPr>
        <p:spPr>
          <a:xfrm>
            <a:off x="6537960" y="2743200"/>
            <a:ext cx="4572000" cy="164592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2"/>
          <p:cNvSpPr/>
          <p:nvPr/>
        </p:nvSpPr>
        <p:spPr>
          <a:xfrm>
            <a:off x="6537960" y="2743200"/>
            <a:ext cx="457200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2"/>
          <p:cNvSpPr/>
          <p:nvPr/>
        </p:nvSpPr>
        <p:spPr>
          <a:xfrm>
            <a:off x="6665976" y="289864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2"/>
          <p:cNvSpPr/>
          <p:nvPr/>
        </p:nvSpPr>
        <p:spPr>
          <a:xfrm>
            <a:off x="6867144" y="289864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52"/>
          <p:cNvSpPr/>
          <p:nvPr/>
        </p:nvSpPr>
        <p:spPr>
          <a:xfrm>
            <a:off x="7068312" y="289864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52"/>
          <p:cNvSpPr/>
          <p:nvPr/>
        </p:nvSpPr>
        <p:spPr>
          <a:xfrm>
            <a:off x="7315200" y="2834640"/>
            <a:ext cx="3602736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52"/>
          <p:cNvSpPr/>
          <p:nvPr/>
        </p:nvSpPr>
        <p:spPr>
          <a:xfrm>
            <a:off x="7406640" y="2889504"/>
            <a:ext cx="33832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52"/>
          <p:cNvSpPr/>
          <p:nvPr/>
        </p:nvSpPr>
        <p:spPr>
          <a:xfrm>
            <a:off x="6830568" y="3401568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52"/>
          <p:cNvSpPr/>
          <p:nvPr/>
        </p:nvSpPr>
        <p:spPr>
          <a:xfrm>
            <a:off x="6830568" y="3657600"/>
            <a:ext cx="3986784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52"/>
          <p:cNvSpPr/>
          <p:nvPr/>
        </p:nvSpPr>
        <p:spPr>
          <a:xfrm>
            <a:off x="6931152" y="3758184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Brave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52"/>
          <p:cNvSpPr/>
          <p:nvPr/>
        </p:nvSpPr>
        <p:spPr>
          <a:xfrm>
            <a:off x="6793992" y="4169664"/>
            <a:ext cx="4059936" cy="502920"/>
          </a:xfrm>
          <a:prstGeom prst="roundRect">
            <a:avLst>
              <a:gd fmla="val 5455" name="adj"/>
            </a:avLst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52"/>
          <p:cNvSpPr/>
          <p:nvPr/>
        </p:nvSpPr>
        <p:spPr>
          <a:xfrm>
            <a:off x="6922008" y="4270248"/>
            <a:ext cx="3803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typed value can differ from suggestions.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52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53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&lt;textarea&gt;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53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Multi-line text input for longer content.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53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53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53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textarea is designed for values that may span multiple lines, such as feedback, comments or descriptions. Unlike &lt;input&gt;, textarea has an opening and closing tag.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53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Supports rows and cols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Can be readonly or disabled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Text can appear between opening and closing tags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53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53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53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&lt;textarea name="feedback" rows="4" cols="30" placeholder="Write feedback..."&gt;&lt;/textarea&gt;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53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53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53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53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3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3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3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53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53"/>
          <p:cNvSpPr/>
          <p:nvPr/>
        </p:nvSpPr>
        <p:spPr>
          <a:xfrm>
            <a:off x="6163056" y="2148840"/>
            <a:ext cx="5157216" cy="77724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3"/>
          <p:cNvSpPr/>
          <p:nvPr/>
        </p:nvSpPr>
        <p:spPr>
          <a:xfrm>
            <a:off x="6263640" y="225856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Write feedback...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53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54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Textarea Attributes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54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Control its visible size and interaction behaviour.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54"/>
          <p:cNvSpPr/>
          <p:nvPr/>
        </p:nvSpPr>
        <p:spPr>
          <a:xfrm>
            <a:off x="777240" y="1325880"/>
            <a:ext cx="1046988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54"/>
          <p:cNvSpPr/>
          <p:nvPr/>
        </p:nvSpPr>
        <p:spPr>
          <a:xfrm>
            <a:off x="777240" y="1325880"/>
            <a:ext cx="73152" cy="7498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54"/>
          <p:cNvSpPr/>
          <p:nvPr/>
        </p:nvSpPr>
        <p:spPr>
          <a:xfrm>
            <a:off x="1078992" y="152704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rows="4"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54"/>
          <p:cNvSpPr/>
          <p:nvPr/>
        </p:nvSpPr>
        <p:spPr>
          <a:xfrm>
            <a:off x="2907792" y="1508760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60"/>
              <a:buFont typeface="Arial"/>
              <a:buNone/>
            </a:pPr>
            <a:r>
              <a:rPr b="0" i="0" lang="en-US" sz="156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Approximate visible number of text lines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54"/>
          <p:cNvSpPr/>
          <p:nvPr/>
        </p:nvSpPr>
        <p:spPr>
          <a:xfrm>
            <a:off x="777240" y="2313432"/>
            <a:ext cx="1046988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54"/>
          <p:cNvSpPr/>
          <p:nvPr/>
        </p:nvSpPr>
        <p:spPr>
          <a:xfrm>
            <a:off x="777240" y="2313432"/>
            <a:ext cx="73152" cy="74980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54"/>
          <p:cNvSpPr/>
          <p:nvPr/>
        </p:nvSpPr>
        <p:spPr>
          <a:xfrm>
            <a:off x="1078992" y="251460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cols="30"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54"/>
          <p:cNvSpPr/>
          <p:nvPr/>
        </p:nvSpPr>
        <p:spPr>
          <a:xfrm>
            <a:off x="2907792" y="2496312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60"/>
              <a:buFont typeface="Arial"/>
              <a:buNone/>
            </a:pPr>
            <a:r>
              <a:rPr b="0" i="0" lang="en-US" sz="156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Approximate visible width in character columns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54"/>
          <p:cNvSpPr/>
          <p:nvPr/>
        </p:nvSpPr>
        <p:spPr>
          <a:xfrm>
            <a:off x="777240" y="3300984"/>
            <a:ext cx="1046988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54"/>
          <p:cNvSpPr/>
          <p:nvPr/>
        </p:nvSpPr>
        <p:spPr>
          <a:xfrm>
            <a:off x="777240" y="3300984"/>
            <a:ext cx="73152" cy="749808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54"/>
          <p:cNvSpPr/>
          <p:nvPr/>
        </p:nvSpPr>
        <p:spPr>
          <a:xfrm>
            <a:off x="1078992" y="350215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readonly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54"/>
          <p:cNvSpPr/>
          <p:nvPr/>
        </p:nvSpPr>
        <p:spPr>
          <a:xfrm>
            <a:off x="2907792" y="3483864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60"/>
              <a:buFont typeface="Arial"/>
              <a:buNone/>
            </a:pPr>
            <a:r>
              <a:rPr b="0" i="0" lang="en-US" sz="156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User can read/focus but not modify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54"/>
          <p:cNvSpPr/>
          <p:nvPr/>
        </p:nvSpPr>
        <p:spPr>
          <a:xfrm>
            <a:off x="777240" y="4288536"/>
            <a:ext cx="1046988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54"/>
          <p:cNvSpPr/>
          <p:nvPr/>
        </p:nvSpPr>
        <p:spPr>
          <a:xfrm>
            <a:off x="777240" y="4288536"/>
            <a:ext cx="73152" cy="74980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54"/>
          <p:cNvSpPr/>
          <p:nvPr/>
        </p:nvSpPr>
        <p:spPr>
          <a:xfrm>
            <a:off x="1078992" y="448970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disabled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54"/>
          <p:cNvSpPr/>
          <p:nvPr/>
        </p:nvSpPr>
        <p:spPr>
          <a:xfrm>
            <a:off x="2907792" y="4471416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60"/>
              <a:buFont typeface="Arial"/>
              <a:buNone/>
            </a:pPr>
            <a:r>
              <a:rPr b="0" i="0" lang="en-US" sz="156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User cannot interact; generally not submitted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54"/>
          <p:cNvSpPr/>
          <p:nvPr/>
        </p:nvSpPr>
        <p:spPr>
          <a:xfrm>
            <a:off x="3611880" y="5394960"/>
            <a:ext cx="498348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54"/>
          <p:cNvSpPr/>
          <p:nvPr/>
        </p:nvSpPr>
        <p:spPr>
          <a:xfrm>
            <a:off x="3611880" y="5394960"/>
            <a:ext cx="498348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54"/>
          <p:cNvSpPr/>
          <p:nvPr/>
        </p:nvSpPr>
        <p:spPr>
          <a:xfrm>
            <a:off x="3739896" y="555040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54"/>
          <p:cNvSpPr/>
          <p:nvPr/>
        </p:nvSpPr>
        <p:spPr>
          <a:xfrm>
            <a:off x="3941064" y="555040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54"/>
          <p:cNvSpPr/>
          <p:nvPr/>
        </p:nvSpPr>
        <p:spPr>
          <a:xfrm>
            <a:off x="4142232" y="555040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54"/>
          <p:cNvSpPr/>
          <p:nvPr/>
        </p:nvSpPr>
        <p:spPr>
          <a:xfrm>
            <a:off x="4389120" y="5486400"/>
            <a:ext cx="4014216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54"/>
          <p:cNvSpPr/>
          <p:nvPr/>
        </p:nvSpPr>
        <p:spPr>
          <a:xfrm>
            <a:off x="4480560" y="5541264"/>
            <a:ext cx="3794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54"/>
          <p:cNvSpPr/>
          <p:nvPr/>
        </p:nvSpPr>
        <p:spPr>
          <a:xfrm>
            <a:off x="3904488" y="6053328"/>
            <a:ext cx="4398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Textarea = multi-line control; rows/cols describe its initial visible dimensions.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54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55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&lt;meter&gt;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55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Represents a scalar measurement within a known range.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55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55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55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meter is appropriate when a value is being measured against known boundaries, such as disk usage, score, battery level or rating. low and high can describe ranges that are considered low or high.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55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min = lower boundary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max = upper boundary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 = current measurement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low / high = threshold regions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55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55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55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&lt;meter min="0" max="100" low="30" high="80" value="65"&gt;65%&lt;/meter&gt;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55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55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55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55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55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55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55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55"/>
          <p:cNvSpPr/>
          <p:nvPr/>
        </p:nvSpPr>
        <p:spPr>
          <a:xfrm>
            <a:off x="6163056" y="1892808"/>
            <a:ext cx="5157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Storage usage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55"/>
          <p:cNvSpPr/>
          <p:nvPr/>
        </p:nvSpPr>
        <p:spPr>
          <a:xfrm>
            <a:off x="6163056" y="2221992"/>
            <a:ext cx="5157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▰▰▰▰▰▰▱▱▱▱   65%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55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56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Meter Attributes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56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Read the meter as a measurement, not as an ongoing task.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56"/>
          <p:cNvSpPr/>
          <p:nvPr/>
        </p:nvSpPr>
        <p:spPr>
          <a:xfrm>
            <a:off x="822960" y="1298448"/>
            <a:ext cx="1051560" cy="301752"/>
          </a:xfrm>
          <a:prstGeom prst="roundRect">
            <a:avLst>
              <a:gd fmla="val 24242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56"/>
          <p:cNvSpPr/>
          <p:nvPr/>
        </p:nvSpPr>
        <p:spPr>
          <a:xfrm>
            <a:off x="868680" y="1348740"/>
            <a:ext cx="9601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56"/>
          <p:cNvSpPr/>
          <p:nvPr/>
        </p:nvSpPr>
        <p:spPr>
          <a:xfrm>
            <a:off x="2103120" y="1353312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Minimum of the known range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56"/>
          <p:cNvSpPr/>
          <p:nvPr/>
        </p:nvSpPr>
        <p:spPr>
          <a:xfrm>
            <a:off x="7589520" y="1353312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Example: 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56"/>
          <p:cNvSpPr/>
          <p:nvPr/>
        </p:nvSpPr>
        <p:spPr>
          <a:xfrm>
            <a:off x="822960" y="2084832"/>
            <a:ext cx="1051560" cy="301752"/>
          </a:xfrm>
          <a:prstGeom prst="roundRect">
            <a:avLst>
              <a:gd fmla="val 24242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56"/>
          <p:cNvSpPr/>
          <p:nvPr/>
        </p:nvSpPr>
        <p:spPr>
          <a:xfrm>
            <a:off x="868680" y="2135124"/>
            <a:ext cx="9601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56"/>
          <p:cNvSpPr/>
          <p:nvPr/>
        </p:nvSpPr>
        <p:spPr>
          <a:xfrm>
            <a:off x="2103120" y="2139696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Maximum of the known range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56"/>
          <p:cNvSpPr/>
          <p:nvPr/>
        </p:nvSpPr>
        <p:spPr>
          <a:xfrm>
            <a:off x="7589520" y="2139696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Example: 100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56"/>
          <p:cNvSpPr/>
          <p:nvPr/>
        </p:nvSpPr>
        <p:spPr>
          <a:xfrm>
            <a:off x="822960" y="2871216"/>
            <a:ext cx="1051560" cy="301752"/>
          </a:xfrm>
          <a:prstGeom prst="roundRect">
            <a:avLst>
              <a:gd fmla="val 24242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56"/>
          <p:cNvSpPr/>
          <p:nvPr/>
        </p:nvSpPr>
        <p:spPr>
          <a:xfrm>
            <a:off x="868680" y="2921508"/>
            <a:ext cx="9601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56"/>
          <p:cNvSpPr/>
          <p:nvPr/>
        </p:nvSpPr>
        <p:spPr>
          <a:xfrm>
            <a:off x="2103120" y="2926080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Current measured value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56"/>
          <p:cNvSpPr/>
          <p:nvPr/>
        </p:nvSpPr>
        <p:spPr>
          <a:xfrm>
            <a:off x="7589520" y="292608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Example: 65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56"/>
          <p:cNvSpPr/>
          <p:nvPr/>
        </p:nvSpPr>
        <p:spPr>
          <a:xfrm>
            <a:off x="822960" y="3657600"/>
            <a:ext cx="1051560" cy="301752"/>
          </a:xfrm>
          <a:prstGeom prst="roundRect">
            <a:avLst>
              <a:gd fmla="val 24242" name="adj"/>
            </a:avLst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56"/>
          <p:cNvSpPr/>
          <p:nvPr/>
        </p:nvSpPr>
        <p:spPr>
          <a:xfrm>
            <a:off x="868680" y="3707892"/>
            <a:ext cx="9601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56"/>
          <p:cNvSpPr/>
          <p:nvPr/>
        </p:nvSpPr>
        <p:spPr>
          <a:xfrm>
            <a:off x="2103120" y="3712464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Boundary for the low region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56"/>
          <p:cNvSpPr/>
          <p:nvPr/>
        </p:nvSpPr>
        <p:spPr>
          <a:xfrm>
            <a:off x="7589520" y="371246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Example: 30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56"/>
          <p:cNvSpPr/>
          <p:nvPr/>
        </p:nvSpPr>
        <p:spPr>
          <a:xfrm>
            <a:off x="822960" y="4443984"/>
            <a:ext cx="1051560" cy="301752"/>
          </a:xfrm>
          <a:prstGeom prst="roundRect">
            <a:avLst>
              <a:gd fmla="val 24242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56"/>
          <p:cNvSpPr/>
          <p:nvPr/>
        </p:nvSpPr>
        <p:spPr>
          <a:xfrm>
            <a:off x="868680" y="4494276"/>
            <a:ext cx="9601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56"/>
          <p:cNvSpPr/>
          <p:nvPr/>
        </p:nvSpPr>
        <p:spPr>
          <a:xfrm>
            <a:off x="2103120" y="4498848"/>
            <a:ext cx="4846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Boundary for the high region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56"/>
          <p:cNvSpPr/>
          <p:nvPr/>
        </p:nvSpPr>
        <p:spPr>
          <a:xfrm>
            <a:off x="7589520" y="449884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Example: 80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56"/>
          <p:cNvSpPr/>
          <p:nvPr/>
        </p:nvSpPr>
        <p:spPr>
          <a:xfrm>
            <a:off x="2331720" y="5440680"/>
            <a:ext cx="7498080" cy="576072"/>
          </a:xfrm>
          <a:prstGeom prst="roundRect">
            <a:avLst>
              <a:gd fmla="val 12698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56"/>
          <p:cNvSpPr/>
          <p:nvPr/>
        </p:nvSpPr>
        <p:spPr>
          <a:xfrm>
            <a:off x="2331720" y="5440680"/>
            <a:ext cx="73152" cy="57607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56"/>
          <p:cNvSpPr/>
          <p:nvPr/>
        </p:nvSpPr>
        <p:spPr>
          <a:xfrm>
            <a:off x="2651760" y="5605272"/>
            <a:ext cx="6812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30"/>
              <a:buFont typeface="Arial"/>
              <a:buNone/>
            </a:pPr>
            <a:r>
              <a:rPr b="1" i="0" lang="en-US" sz="15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 &lt;meter&gt; when the value itself is the measurement.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56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57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&lt;progress&gt;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57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Shows how much of a task has been completed.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57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57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57"/>
          <p:cNvSpPr/>
          <p:nvPr/>
        </p:nvSpPr>
        <p:spPr>
          <a:xfrm>
            <a:off x="786384" y="1399032"/>
            <a:ext cx="4690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57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progress represents the completion status of an ongoing task such as an upload, download or installation. value is the completed amount and max is the total amount.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57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value = completed amount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max = total amount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If value is omitted, browsers may show an indeterminate state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57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57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57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&lt;progress value="60" max="100"&gt;60%&lt;/progress&gt;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57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57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57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57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57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57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57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57"/>
          <p:cNvSpPr/>
          <p:nvPr/>
        </p:nvSpPr>
        <p:spPr>
          <a:xfrm>
            <a:off x="6163056" y="1892808"/>
            <a:ext cx="5157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Uploading file...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57"/>
          <p:cNvSpPr/>
          <p:nvPr/>
        </p:nvSpPr>
        <p:spPr>
          <a:xfrm>
            <a:off x="6163056" y="2221992"/>
            <a:ext cx="51572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▰▰▰▰▰▰▱▱▱▱   60%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57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58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&lt;meter&gt; vs &lt;progress&gt;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58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They can look similar but communicate different meanings.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58"/>
          <p:cNvSpPr/>
          <p:nvPr/>
        </p:nvSpPr>
        <p:spPr>
          <a:xfrm>
            <a:off x="731520" y="1325880"/>
            <a:ext cx="5230368" cy="4389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58"/>
          <p:cNvSpPr/>
          <p:nvPr/>
        </p:nvSpPr>
        <p:spPr>
          <a:xfrm>
            <a:off x="731520" y="1325880"/>
            <a:ext cx="73152" cy="43891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58"/>
          <p:cNvSpPr/>
          <p:nvPr/>
        </p:nvSpPr>
        <p:spPr>
          <a:xfrm>
            <a:off x="950976" y="1490472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&lt;meter&gt;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58"/>
          <p:cNvSpPr/>
          <p:nvPr/>
        </p:nvSpPr>
        <p:spPr>
          <a:xfrm>
            <a:off x="1024128" y="181051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value measured inside a known range.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58"/>
          <p:cNvSpPr/>
          <p:nvPr/>
        </p:nvSpPr>
        <p:spPr>
          <a:xfrm>
            <a:off x="1024128" y="2404872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Examples: battery level, score, storage usage, rating.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58"/>
          <p:cNvSpPr/>
          <p:nvPr/>
        </p:nvSpPr>
        <p:spPr>
          <a:xfrm>
            <a:off x="1024128" y="36576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▰▰▰▰▰▰▰▱▱▱   70%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58"/>
          <p:cNvSpPr/>
          <p:nvPr/>
        </p:nvSpPr>
        <p:spPr>
          <a:xfrm>
            <a:off x="6263640" y="1325880"/>
            <a:ext cx="5230368" cy="4389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58"/>
          <p:cNvSpPr/>
          <p:nvPr/>
        </p:nvSpPr>
        <p:spPr>
          <a:xfrm>
            <a:off x="6263640" y="1325880"/>
            <a:ext cx="73152" cy="43891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58"/>
          <p:cNvSpPr/>
          <p:nvPr/>
        </p:nvSpPr>
        <p:spPr>
          <a:xfrm>
            <a:off x="6483096" y="1490472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&lt;progress&gt;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58"/>
          <p:cNvSpPr/>
          <p:nvPr/>
        </p:nvSpPr>
        <p:spPr>
          <a:xfrm>
            <a:off x="6556248" y="181051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much of an ongoing task is complete.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58"/>
          <p:cNvSpPr/>
          <p:nvPr/>
        </p:nvSpPr>
        <p:spPr>
          <a:xfrm>
            <a:off x="6556248" y="2404872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Examples: file upload, download, installation.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58"/>
          <p:cNvSpPr/>
          <p:nvPr/>
        </p:nvSpPr>
        <p:spPr>
          <a:xfrm>
            <a:off x="6556248" y="36576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▰▰▰▰▰▱▱▱▱▱   50%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58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59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&lt;label&gt;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59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label describes a form control and can connect directly to it.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59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59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59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label element gives a text description to a control. When the label for value matches the input id, clicking the label can focus or activate the associated control. This also improves form accessibility.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59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for on label matches id on control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Makes the target easier to click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Important for accessible forms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59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59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59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&lt;label for="email"&gt;Email Address&lt;/label&gt;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type="email" id="email" name="email"&gt;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p59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59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59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59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59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59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59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59"/>
          <p:cNvSpPr/>
          <p:nvPr/>
        </p:nvSpPr>
        <p:spPr>
          <a:xfrm>
            <a:off x="6163056" y="1892808"/>
            <a:ext cx="51480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Email Address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59"/>
          <p:cNvSpPr/>
          <p:nvPr/>
        </p:nvSpPr>
        <p:spPr>
          <a:xfrm>
            <a:off x="6163056" y="2148840"/>
            <a:ext cx="515721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59"/>
          <p:cNvSpPr/>
          <p:nvPr/>
        </p:nvSpPr>
        <p:spPr>
          <a:xfrm>
            <a:off x="6263640" y="2249424"/>
            <a:ext cx="4919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you@example.com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59"/>
          <p:cNvSpPr/>
          <p:nvPr/>
        </p:nvSpPr>
        <p:spPr>
          <a:xfrm>
            <a:off x="6126480" y="2660904"/>
            <a:ext cx="5230368" cy="475488"/>
          </a:xfrm>
          <a:prstGeom prst="roundRect">
            <a:avLst>
              <a:gd fmla="val 5769" name="adj"/>
            </a:avLst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59"/>
          <p:cNvSpPr/>
          <p:nvPr/>
        </p:nvSpPr>
        <p:spPr>
          <a:xfrm>
            <a:off x="6254496" y="2761488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Clicking “Email Address” focuses the matching input.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59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60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label for Connects to input id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60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values must match.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60"/>
          <p:cNvSpPr/>
          <p:nvPr/>
        </p:nvSpPr>
        <p:spPr>
          <a:xfrm>
            <a:off x="777240" y="1463040"/>
            <a:ext cx="4754880" cy="1600200"/>
          </a:xfrm>
          <a:prstGeom prst="roundRect">
            <a:avLst>
              <a:gd fmla="val 3429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60"/>
          <p:cNvSpPr/>
          <p:nvPr/>
        </p:nvSpPr>
        <p:spPr>
          <a:xfrm>
            <a:off x="941832" y="157276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60"/>
          <p:cNvSpPr/>
          <p:nvPr/>
        </p:nvSpPr>
        <p:spPr>
          <a:xfrm>
            <a:off x="941832" y="1828800"/>
            <a:ext cx="4425696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&lt;label for="studentName"&gt;Student Name&lt;/label&gt;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&lt;input id="studentName" name="student"&gt;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60"/>
          <p:cNvSpPr/>
          <p:nvPr/>
        </p:nvSpPr>
        <p:spPr>
          <a:xfrm>
            <a:off x="896112" y="34015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for="studentName"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60"/>
          <p:cNvSpPr/>
          <p:nvPr/>
        </p:nvSpPr>
        <p:spPr>
          <a:xfrm>
            <a:off x="3200400" y="33375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↘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60"/>
          <p:cNvSpPr/>
          <p:nvPr/>
        </p:nvSpPr>
        <p:spPr>
          <a:xfrm>
            <a:off x="3703320" y="34015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id="studentName"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60"/>
          <p:cNvSpPr/>
          <p:nvPr/>
        </p:nvSpPr>
        <p:spPr>
          <a:xfrm>
            <a:off x="5989320" y="1463040"/>
            <a:ext cx="5349240" cy="2971800"/>
          </a:xfrm>
          <a:prstGeom prst="roundRect">
            <a:avLst>
              <a:gd fmla="val 184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0"/>
          <p:cNvSpPr/>
          <p:nvPr/>
        </p:nvSpPr>
        <p:spPr>
          <a:xfrm>
            <a:off x="5989320" y="1463040"/>
            <a:ext cx="5349240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0"/>
          <p:cNvSpPr/>
          <p:nvPr/>
        </p:nvSpPr>
        <p:spPr>
          <a:xfrm>
            <a:off x="6117336" y="16184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0"/>
          <p:cNvSpPr/>
          <p:nvPr/>
        </p:nvSpPr>
        <p:spPr>
          <a:xfrm>
            <a:off x="6318504" y="16184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0"/>
          <p:cNvSpPr/>
          <p:nvPr/>
        </p:nvSpPr>
        <p:spPr>
          <a:xfrm>
            <a:off x="6519672" y="16184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60"/>
          <p:cNvSpPr/>
          <p:nvPr/>
        </p:nvSpPr>
        <p:spPr>
          <a:xfrm>
            <a:off x="6766560" y="1554480"/>
            <a:ext cx="4379976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60"/>
          <p:cNvSpPr/>
          <p:nvPr/>
        </p:nvSpPr>
        <p:spPr>
          <a:xfrm>
            <a:off x="6858000" y="1609344"/>
            <a:ext cx="41605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60"/>
          <p:cNvSpPr/>
          <p:nvPr/>
        </p:nvSpPr>
        <p:spPr>
          <a:xfrm>
            <a:off x="6281928" y="2121408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 Name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60"/>
          <p:cNvSpPr/>
          <p:nvPr/>
        </p:nvSpPr>
        <p:spPr>
          <a:xfrm>
            <a:off x="6281928" y="2377440"/>
            <a:ext cx="4764024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215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60"/>
          <p:cNvSpPr/>
          <p:nvPr/>
        </p:nvSpPr>
        <p:spPr>
          <a:xfrm>
            <a:off x="6382512" y="2478024"/>
            <a:ext cx="4526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Enter your name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0" name="Google Shape;1660;p60"/>
          <p:cNvSpPr/>
          <p:nvPr/>
        </p:nvSpPr>
        <p:spPr>
          <a:xfrm>
            <a:off x="6245352" y="2889504"/>
            <a:ext cx="4837176" cy="731520"/>
          </a:xfrm>
          <a:prstGeom prst="roundRect">
            <a:avLst>
              <a:gd fmla="val 3750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60"/>
          <p:cNvSpPr/>
          <p:nvPr/>
        </p:nvSpPr>
        <p:spPr>
          <a:xfrm>
            <a:off x="6373368" y="2990088"/>
            <a:ext cx="4581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association helps mouse, touch and assistive-technology users.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60"/>
          <p:cNvSpPr/>
          <p:nvPr/>
        </p:nvSpPr>
        <p:spPr>
          <a:xfrm>
            <a:off x="2103120" y="5047488"/>
            <a:ext cx="7909560" cy="658368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60"/>
          <p:cNvSpPr/>
          <p:nvPr/>
        </p:nvSpPr>
        <p:spPr>
          <a:xfrm>
            <a:off x="2103120" y="5047488"/>
            <a:ext cx="73152" cy="65836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60"/>
          <p:cNvSpPr/>
          <p:nvPr/>
        </p:nvSpPr>
        <p:spPr>
          <a:xfrm>
            <a:off x="2423160" y="5266944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60"/>
              <a:buFont typeface="Arial"/>
              <a:buNone/>
            </a:pPr>
            <a:r>
              <a:rPr b="1" i="0" lang="en-US" sz="15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label “for” points to the control’s “id” — not its name.</a:t>
            </a:r>
            <a:endParaRPr b="0" i="0" sz="15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60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61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&lt;button&gt; Element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61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Creates a clickable button with an explicit purpose.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61"/>
          <p:cNvSpPr/>
          <p:nvPr/>
        </p:nvSpPr>
        <p:spPr>
          <a:xfrm>
            <a:off x="566928" y="1234440"/>
            <a:ext cx="5074920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61"/>
          <p:cNvSpPr/>
          <p:nvPr/>
        </p:nvSpPr>
        <p:spPr>
          <a:xfrm>
            <a:off x="566928" y="1234440"/>
            <a:ext cx="73152" cy="480060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61"/>
          <p:cNvSpPr/>
          <p:nvPr/>
        </p:nvSpPr>
        <p:spPr>
          <a:xfrm>
            <a:off x="841248" y="164592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40"/>
              <a:buFont typeface="Arial"/>
              <a:buNone/>
            </a:pPr>
            <a:r>
              <a:rPr b="0" i="0" lang="en-US" sz="17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Inside forms, a button can submit the form, reset form controls, or behave as a generic button. Using an explicit type is a good habit because the default behaviour of a button inside a form is typically submission.</a:t>
            </a:r>
            <a:endParaRPr b="0" i="0" sz="1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61"/>
          <p:cNvSpPr/>
          <p:nvPr/>
        </p:nvSpPr>
        <p:spPr>
          <a:xfrm>
            <a:off x="841248" y="2697480"/>
            <a:ext cx="4526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type="submit" submits the form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type="reset" restores initial values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30"/>
              <a:buFont typeface="Arial"/>
              <a:buChar char="•"/>
            </a:pPr>
            <a:r>
              <a:rPr b="0" i="0" lang="en-US" sz="153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type="button" has no built-in submit/reset action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61"/>
          <p:cNvSpPr/>
          <p:nvPr/>
        </p:nvSpPr>
        <p:spPr>
          <a:xfrm>
            <a:off x="841248" y="3913632"/>
            <a:ext cx="4526280" cy="1783080"/>
          </a:xfrm>
          <a:prstGeom prst="roundRect">
            <a:avLst>
              <a:gd fmla="val 3077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61"/>
          <p:cNvSpPr/>
          <p:nvPr/>
        </p:nvSpPr>
        <p:spPr>
          <a:xfrm>
            <a:off x="1005840" y="4023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61"/>
          <p:cNvSpPr/>
          <p:nvPr/>
        </p:nvSpPr>
        <p:spPr>
          <a:xfrm>
            <a:off x="1005840" y="4279392"/>
            <a:ext cx="4197096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type="submit"&gt;Submit&lt;/button&gt;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type="reset"&gt;Reset&lt;/button&gt;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type="button"&gt;Preview&lt;/button&gt;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61"/>
          <p:cNvSpPr/>
          <p:nvPr/>
        </p:nvSpPr>
        <p:spPr>
          <a:xfrm>
            <a:off x="5870448" y="1234440"/>
            <a:ext cx="5742432" cy="4800600"/>
          </a:xfrm>
          <a:prstGeom prst="roundRect">
            <a:avLst>
              <a:gd fmla="val 1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61"/>
          <p:cNvSpPr/>
          <p:nvPr/>
        </p:nvSpPr>
        <p:spPr>
          <a:xfrm>
            <a:off x="5870448" y="1234440"/>
            <a:ext cx="574243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61"/>
          <p:cNvSpPr/>
          <p:nvPr/>
        </p:nvSpPr>
        <p:spPr>
          <a:xfrm>
            <a:off x="599846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61"/>
          <p:cNvSpPr/>
          <p:nvPr/>
        </p:nvSpPr>
        <p:spPr>
          <a:xfrm>
            <a:off x="619963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61"/>
          <p:cNvSpPr/>
          <p:nvPr/>
        </p:nvSpPr>
        <p:spPr>
          <a:xfrm>
            <a:off x="640080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61"/>
          <p:cNvSpPr/>
          <p:nvPr/>
        </p:nvSpPr>
        <p:spPr>
          <a:xfrm>
            <a:off x="6647688" y="1325880"/>
            <a:ext cx="477316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61"/>
          <p:cNvSpPr/>
          <p:nvPr/>
        </p:nvSpPr>
        <p:spPr>
          <a:xfrm>
            <a:off x="6739128" y="1380744"/>
            <a:ext cx="455371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61"/>
          <p:cNvSpPr/>
          <p:nvPr/>
        </p:nvSpPr>
        <p:spPr>
          <a:xfrm>
            <a:off x="6163056" y="1892808"/>
            <a:ext cx="1143000" cy="365760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61"/>
          <p:cNvSpPr/>
          <p:nvPr/>
        </p:nvSpPr>
        <p:spPr>
          <a:xfrm>
            <a:off x="6236208" y="1984248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61"/>
          <p:cNvSpPr/>
          <p:nvPr/>
        </p:nvSpPr>
        <p:spPr>
          <a:xfrm>
            <a:off x="6163056" y="2395728"/>
            <a:ext cx="1051560" cy="365760"/>
          </a:xfrm>
          <a:prstGeom prst="roundRect">
            <a:avLst>
              <a:gd fmla="val 10000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61"/>
          <p:cNvSpPr/>
          <p:nvPr/>
        </p:nvSpPr>
        <p:spPr>
          <a:xfrm>
            <a:off x="6236208" y="2487168"/>
            <a:ext cx="9052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61"/>
          <p:cNvSpPr/>
          <p:nvPr/>
        </p:nvSpPr>
        <p:spPr>
          <a:xfrm>
            <a:off x="6163056" y="2898648"/>
            <a:ext cx="1188720" cy="365760"/>
          </a:xfrm>
          <a:prstGeom prst="roundRect">
            <a:avLst>
              <a:gd fmla="val 10000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61"/>
          <p:cNvSpPr/>
          <p:nvPr/>
        </p:nvSpPr>
        <p:spPr>
          <a:xfrm>
            <a:off x="6236208" y="2990088"/>
            <a:ext cx="10424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Preview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61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62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Button Types: submit, reset and button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62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Modern HTML uses the type attribute to state the button behaviour clearly.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62"/>
          <p:cNvSpPr/>
          <p:nvPr/>
        </p:nvSpPr>
        <p:spPr>
          <a:xfrm>
            <a:off x="868680" y="1463040"/>
            <a:ext cx="103327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62"/>
          <p:cNvSpPr/>
          <p:nvPr/>
        </p:nvSpPr>
        <p:spPr>
          <a:xfrm>
            <a:off x="868680" y="1463040"/>
            <a:ext cx="73152" cy="9601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62"/>
          <p:cNvSpPr/>
          <p:nvPr/>
        </p:nvSpPr>
        <p:spPr>
          <a:xfrm>
            <a:off x="1170432" y="1691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type="submit"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62"/>
          <p:cNvSpPr/>
          <p:nvPr/>
        </p:nvSpPr>
        <p:spPr>
          <a:xfrm>
            <a:off x="3154680" y="16459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Submits the form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62"/>
          <p:cNvSpPr/>
          <p:nvPr/>
        </p:nvSpPr>
        <p:spPr>
          <a:xfrm>
            <a:off x="6903720" y="164592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Save / Login / Register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62"/>
          <p:cNvSpPr/>
          <p:nvPr/>
        </p:nvSpPr>
        <p:spPr>
          <a:xfrm>
            <a:off x="868680" y="2816352"/>
            <a:ext cx="103327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62"/>
          <p:cNvSpPr/>
          <p:nvPr/>
        </p:nvSpPr>
        <p:spPr>
          <a:xfrm>
            <a:off x="868680" y="2816352"/>
            <a:ext cx="73152" cy="9601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62"/>
          <p:cNvSpPr/>
          <p:nvPr/>
        </p:nvSpPr>
        <p:spPr>
          <a:xfrm>
            <a:off x="1170432" y="304495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type="reset"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62"/>
          <p:cNvSpPr/>
          <p:nvPr/>
        </p:nvSpPr>
        <p:spPr>
          <a:xfrm>
            <a:off x="3154680" y="299923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Restores controls to their initial values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p62"/>
          <p:cNvSpPr/>
          <p:nvPr/>
        </p:nvSpPr>
        <p:spPr>
          <a:xfrm>
            <a:off x="6903720" y="299923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Clear form back to defaults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62"/>
          <p:cNvSpPr/>
          <p:nvPr/>
        </p:nvSpPr>
        <p:spPr>
          <a:xfrm>
            <a:off x="868680" y="4169664"/>
            <a:ext cx="103327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62"/>
          <p:cNvSpPr/>
          <p:nvPr/>
        </p:nvSpPr>
        <p:spPr>
          <a:xfrm>
            <a:off x="868680" y="4169664"/>
            <a:ext cx="73152" cy="9601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62"/>
          <p:cNvSpPr/>
          <p:nvPr/>
        </p:nvSpPr>
        <p:spPr>
          <a:xfrm>
            <a:off x="1170432" y="439826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type="button"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62"/>
          <p:cNvSpPr/>
          <p:nvPr/>
        </p:nvSpPr>
        <p:spPr>
          <a:xfrm>
            <a:off x="3154680" y="435254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 built-in form action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62"/>
          <p:cNvSpPr/>
          <p:nvPr/>
        </p:nvSpPr>
        <p:spPr>
          <a:xfrm>
            <a:off x="6903720" y="4352544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Usually paired with JavaScript later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62"/>
          <p:cNvSpPr/>
          <p:nvPr/>
        </p:nvSpPr>
        <p:spPr>
          <a:xfrm>
            <a:off x="2194560" y="5532120"/>
            <a:ext cx="7772400" cy="530352"/>
          </a:xfrm>
          <a:prstGeom prst="roundRect">
            <a:avLst>
              <a:gd fmla="val 1379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62"/>
          <p:cNvSpPr/>
          <p:nvPr/>
        </p:nvSpPr>
        <p:spPr>
          <a:xfrm>
            <a:off x="2194560" y="5532120"/>
            <a:ext cx="73152" cy="530352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62"/>
          <p:cNvSpPr/>
          <p:nvPr/>
        </p:nvSpPr>
        <p:spPr>
          <a:xfrm>
            <a:off x="2514600" y="5687568"/>
            <a:ext cx="71323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30"/>
              <a:buFont typeface="Arial"/>
              <a:buNone/>
            </a:pPr>
            <a:r>
              <a:rPr b="1" i="0" lang="en-US" sz="15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For beginners: always write the button type explicitly.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62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63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Complete HTML-Only Form Demo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p63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single demo combining the concepts students have learned.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p63"/>
          <p:cNvSpPr/>
          <p:nvPr/>
        </p:nvSpPr>
        <p:spPr>
          <a:xfrm>
            <a:off x="566928" y="1234440"/>
            <a:ext cx="5257800" cy="4526280"/>
          </a:xfrm>
          <a:prstGeom prst="roundRect">
            <a:avLst>
              <a:gd fmla="val 1212" name="adj"/>
            </a:avLst>
          </a:prstGeom>
          <a:solidFill>
            <a:srgbClr val="0B1020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63"/>
          <p:cNvSpPr/>
          <p:nvPr/>
        </p:nvSpPr>
        <p:spPr>
          <a:xfrm>
            <a:off x="731520" y="134416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63"/>
          <p:cNvSpPr/>
          <p:nvPr/>
        </p:nvSpPr>
        <p:spPr>
          <a:xfrm>
            <a:off x="731520" y="1600200"/>
            <a:ext cx="4928616" cy="404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&lt;form action="result.html" method="get"&gt;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&lt;label for="name"&gt;Name&lt;/label&gt;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&lt;input id="name" name="student" required&gt;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t/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&lt;label for="course"&gt;Course&lt;/label&gt;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&lt;select id="course" name="course"&gt;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&lt;option value="html"&gt;HTML&lt;/option&gt;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&lt;option value="web"&gt;Web Development&lt;/option&gt;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&lt;/select&gt;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t/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&lt;button type="submit"&gt;Submit&lt;/button&gt;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20"/>
              <a:buFont typeface="Courier New"/>
              <a:buNone/>
            </a:pPr>
            <a:r>
              <a:rPr b="0" i="0" lang="en-US" sz="132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63"/>
          <p:cNvSpPr/>
          <p:nvPr/>
        </p:nvSpPr>
        <p:spPr>
          <a:xfrm>
            <a:off x="6053328" y="1234440"/>
            <a:ext cx="5559552" cy="4526280"/>
          </a:xfrm>
          <a:prstGeom prst="roundRect">
            <a:avLst>
              <a:gd fmla="val 121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63"/>
          <p:cNvSpPr/>
          <p:nvPr/>
        </p:nvSpPr>
        <p:spPr>
          <a:xfrm>
            <a:off x="6053328" y="1234440"/>
            <a:ext cx="5559552" cy="43891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63"/>
          <p:cNvSpPr/>
          <p:nvPr/>
        </p:nvSpPr>
        <p:spPr>
          <a:xfrm>
            <a:off x="6181344" y="1389888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63"/>
          <p:cNvSpPr/>
          <p:nvPr/>
        </p:nvSpPr>
        <p:spPr>
          <a:xfrm>
            <a:off x="6382512" y="1389888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63"/>
          <p:cNvSpPr/>
          <p:nvPr/>
        </p:nvSpPr>
        <p:spPr>
          <a:xfrm>
            <a:off x="6583680" y="138988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63"/>
          <p:cNvSpPr/>
          <p:nvPr/>
        </p:nvSpPr>
        <p:spPr>
          <a:xfrm>
            <a:off x="6830568" y="1325880"/>
            <a:ext cx="4590288" cy="246888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63"/>
          <p:cNvSpPr/>
          <p:nvPr/>
        </p:nvSpPr>
        <p:spPr>
          <a:xfrm>
            <a:off x="6922008" y="1380744"/>
            <a:ext cx="437083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63"/>
          <p:cNvSpPr/>
          <p:nvPr/>
        </p:nvSpPr>
        <p:spPr>
          <a:xfrm>
            <a:off x="6345936" y="1892808"/>
            <a:ext cx="49651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63"/>
          <p:cNvSpPr/>
          <p:nvPr/>
        </p:nvSpPr>
        <p:spPr>
          <a:xfrm>
            <a:off x="6345936" y="2148840"/>
            <a:ext cx="4974336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63"/>
          <p:cNvSpPr/>
          <p:nvPr/>
        </p:nvSpPr>
        <p:spPr>
          <a:xfrm>
            <a:off x="6446520" y="2249424"/>
            <a:ext cx="4736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Adfar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63"/>
          <p:cNvSpPr/>
          <p:nvPr/>
        </p:nvSpPr>
        <p:spPr>
          <a:xfrm>
            <a:off x="6345936" y="2660904"/>
            <a:ext cx="49651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63"/>
          <p:cNvSpPr/>
          <p:nvPr/>
        </p:nvSpPr>
        <p:spPr>
          <a:xfrm>
            <a:off x="6345936" y="2916936"/>
            <a:ext cx="31546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63"/>
          <p:cNvSpPr/>
          <p:nvPr/>
        </p:nvSpPr>
        <p:spPr>
          <a:xfrm>
            <a:off x="6446520" y="3017520"/>
            <a:ext cx="29535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     ▾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63"/>
          <p:cNvSpPr/>
          <p:nvPr/>
        </p:nvSpPr>
        <p:spPr>
          <a:xfrm>
            <a:off x="6345936" y="3429000"/>
            <a:ext cx="1188720" cy="365760"/>
          </a:xfrm>
          <a:prstGeom prst="roundRect">
            <a:avLst>
              <a:gd fmla="val 1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63"/>
          <p:cNvSpPr/>
          <p:nvPr/>
        </p:nvSpPr>
        <p:spPr>
          <a:xfrm>
            <a:off x="6419088" y="3520440"/>
            <a:ext cx="10424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63"/>
          <p:cNvSpPr/>
          <p:nvPr/>
        </p:nvSpPr>
        <p:spPr>
          <a:xfrm>
            <a:off x="6309360" y="3931920"/>
            <a:ext cx="5047488" cy="658368"/>
          </a:xfrm>
          <a:prstGeom prst="roundRect">
            <a:avLst>
              <a:gd fmla="val 4167" name="adj"/>
            </a:avLst>
          </a:prstGeom>
          <a:solidFill>
            <a:srgbClr val="D1FAE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63"/>
          <p:cNvSpPr/>
          <p:nvPr/>
        </p:nvSpPr>
        <p:spPr>
          <a:xfrm>
            <a:off x="6437376" y="4032504"/>
            <a:ext cx="479145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After submit → result.html?student=Adfar&amp;course=html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63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64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Recommended Live Demo Sequence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64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Teach the browser behaviour before introducing any backend.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64"/>
          <p:cNvSpPr/>
          <p:nvPr/>
        </p:nvSpPr>
        <p:spPr>
          <a:xfrm>
            <a:off x="777240" y="1353312"/>
            <a:ext cx="507492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64"/>
          <p:cNvSpPr/>
          <p:nvPr/>
        </p:nvSpPr>
        <p:spPr>
          <a:xfrm>
            <a:off x="777240" y="1353312"/>
            <a:ext cx="73152" cy="10241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64"/>
          <p:cNvSpPr/>
          <p:nvPr/>
        </p:nvSpPr>
        <p:spPr>
          <a:xfrm>
            <a:off x="1005840" y="1655064"/>
            <a:ext cx="457200" cy="301752"/>
          </a:xfrm>
          <a:prstGeom prst="roundRect">
            <a:avLst>
              <a:gd fmla="val 24242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64"/>
          <p:cNvSpPr/>
          <p:nvPr/>
        </p:nvSpPr>
        <p:spPr>
          <a:xfrm>
            <a:off x="1051560" y="1705356"/>
            <a:ext cx="365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64"/>
          <p:cNvSpPr/>
          <p:nvPr/>
        </p:nvSpPr>
        <p:spPr>
          <a:xfrm>
            <a:off x="1645920" y="154533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Create a normal HTML file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64"/>
          <p:cNvSpPr/>
          <p:nvPr/>
        </p:nvSpPr>
        <p:spPr>
          <a:xfrm>
            <a:off x="3520440" y="153619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forms.html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64"/>
          <p:cNvSpPr/>
          <p:nvPr/>
        </p:nvSpPr>
        <p:spPr>
          <a:xfrm>
            <a:off x="777240" y="2770632"/>
            <a:ext cx="507492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64"/>
          <p:cNvSpPr/>
          <p:nvPr/>
        </p:nvSpPr>
        <p:spPr>
          <a:xfrm>
            <a:off x="777240" y="2770632"/>
            <a:ext cx="73152" cy="10241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64"/>
          <p:cNvSpPr/>
          <p:nvPr/>
        </p:nvSpPr>
        <p:spPr>
          <a:xfrm>
            <a:off x="1005840" y="3072384"/>
            <a:ext cx="457200" cy="301752"/>
          </a:xfrm>
          <a:prstGeom prst="roundRect">
            <a:avLst>
              <a:gd fmla="val 24242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64"/>
          <p:cNvSpPr/>
          <p:nvPr/>
        </p:nvSpPr>
        <p:spPr>
          <a:xfrm>
            <a:off x="1051560" y="3122676"/>
            <a:ext cx="365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5" name="Google Shape;1765;p64"/>
          <p:cNvSpPr/>
          <p:nvPr/>
        </p:nvSpPr>
        <p:spPr>
          <a:xfrm>
            <a:off x="1645920" y="296265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Run it with Live Server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64"/>
          <p:cNvSpPr/>
          <p:nvPr/>
        </p:nvSpPr>
        <p:spPr>
          <a:xfrm>
            <a:off x="3520440" y="295351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localhost:5500/forms.html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64"/>
          <p:cNvSpPr/>
          <p:nvPr/>
        </p:nvSpPr>
        <p:spPr>
          <a:xfrm>
            <a:off x="777240" y="4187952"/>
            <a:ext cx="507492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64"/>
          <p:cNvSpPr/>
          <p:nvPr/>
        </p:nvSpPr>
        <p:spPr>
          <a:xfrm>
            <a:off x="777240" y="4187952"/>
            <a:ext cx="73152" cy="10241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64"/>
          <p:cNvSpPr/>
          <p:nvPr/>
        </p:nvSpPr>
        <p:spPr>
          <a:xfrm>
            <a:off x="1005840" y="4489704"/>
            <a:ext cx="457200" cy="301752"/>
          </a:xfrm>
          <a:prstGeom prst="roundRect">
            <a:avLst>
              <a:gd fmla="val 24242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64"/>
          <p:cNvSpPr/>
          <p:nvPr/>
        </p:nvSpPr>
        <p:spPr>
          <a:xfrm>
            <a:off x="1051560" y="4539996"/>
            <a:ext cx="365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64"/>
          <p:cNvSpPr/>
          <p:nvPr/>
        </p:nvSpPr>
        <p:spPr>
          <a:xfrm>
            <a:off x="1645920" y="437997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 method="get"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64"/>
          <p:cNvSpPr/>
          <p:nvPr/>
        </p:nvSpPr>
        <p:spPr>
          <a:xfrm>
            <a:off x="3520440" y="437083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 backend required for query-string demo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64"/>
          <p:cNvSpPr/>
          <p:nvPr/>
        </p:nvSpPr>
        <p:spPr>
          <a:xfrm>
            <a:off x="6172200" y="1353312"/>
            <a:ext cx="507492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64"/>
          <p:cNvSpPr/>
          <p:nvPr/>
        </p:nvSpPr>
        <p:spPr>
          <a:xfrm>
            <a:off x="6172200" y="1353312"/>
            <a:ext cx="73152" cy="1024128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64"/>
          <p:cNvSpPr/>
          <p:nvPr/>
        </p:nvSpPr>
        <p:spPr>
          <a:xfrm>
            <a:off x="6400800" y="1655064"/>
            <a:ext cx="457200" cy="301752"/>
          </a:xfrm>
          <a:prstGeom prst="roundRect">
            <a:avLst>
              <a:gd fmla="val 24242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64"/>
          <p:cNvSpPr/>
          <p:nvPr/>
        </p:nvSpPr>
        <p:spPr>
          <a:xfrm>
            <a:off x="6446520" y="1705356"/>
            <a:ext cx="365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64"/>
          <p:cNvSpPr/>
          <p:nvPr/>
        </p:nvSpPr>
        <p:spPr>
          <a:xfrm>
            <a:off x="7040880" y="154533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Add name attributes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64"/>
          <p:cNvSpPr/>
          <p:nvPr/>
        </p:nvSpPr>
        <p:spPr>
          <a:xfrm>
            <a:off x="8915400" y="153619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student, course, city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64"/>
          <p:cNvSpPr/>
          <p:nvPr/>
        </p:nvSpPr>
        <p:spPr>
          <a:xfrm>
            <a:off x="6172200" y="2770632"/>
            <a:ext cx="507492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64"/>
          <p:cNvSpPr/>
          <p:nvPr/>
        </p:nvSpPr>
        <p:spPr>
          <a:xfrm>
            <a:off x="6172200" y="2770632"/>
            <a:ext cx="73152" cy="1024128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64"/>
          <p:cNvSpPr/>
          <p:nvPr/>
        </p:nvSpPr>
        <p:spPr>
          <a:xfrm>
            <a:off x="6400800" y="3072384"/>
            <a:ext cx="457200" cy="301752"/>
          </a:xfrm>
          <a:prstGeom prst="roundRect">
            <a:avLst>
              <a:gd fmla="val 24242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64"/>
          <p:cNvSpPr/>
          <p:nvPr/>
        </p:nvSpPr>
        <p:spPr>
          <a:xfrm>
            <a:off x="6446520" y="3122676"/>
            <a:ext cx="365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64"/>
          <p:cNvSpPr/>
          <p:nvPr/>
        </p:nvSpPr>
        <p:spPr>
          <a:xfrm>
            <a:off x="7040880" y="296265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Submit the form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4" name="Google Shape;1784;p64"/>
          <p:cNvSpPr/>
          <p:nvPr/>
        </p:nvSpPr>
        <p:spPr>
          <a:xfrm>
            <a:off x="8915400" y="295351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Watch ?name=value pairs appear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5" name="Google Shape;1785;p64"/>
          <p:cNvSpPr/>
          <p:nvPr/>
        </p:nvSpPr>
        <p:spPr>
          <a:xfrm>
            <a:off x="6172200" y="4187952"/>
            <a:ext cx="507492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64"/>
          <p:cNvSpPr/>
          <p:nvPr/>
        </p:nvSpPr>
        <p:spPr>
          <a:xfrm>
            <a:off x="6172200" y="4187952"/>
            <a:ext cx="73152" cy="1024128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64"/>
          <p:cNvSpPr/>
          <p:nvPr/>
        </p:nvSpPr>
        <p:spPr>
          <a:xfrm>
            <a:off x="6400800" y="4489704"/>
            <a:ext cx="457200" cy="301752"/>
          </a:xfrm>
          <a:prstGeom prst="roundRect">
            <a:avLst>
              <a:gd fmla="val 24242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64"/>
          <p:cNvSpPr/>
          <p:nvPr/>
        </p:nvSpPr>
        <p:spPr>
          <a:xfrm>
            <a:off x="6446520" y="4539996"/>
            <a:ext cx="3657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64"/>
          <p:cNvSpPr/>
          <p:nvPr/>
        </p:nvSpPr>
        <p:spPr>
          <a:xfrm>
            <a:off x="7040880" y="437997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Remove one name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64"/>
          <p:cNvSpPr/>
          <p:nvPr/>
        </p:nvSpPr>
        <p:spPr>
          <a:xfrm>
            <a:off x="8915400" y="437083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Show that its value is not submitted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64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65"/>
          <p:cNvSpPr/>
          <p:nvPr/>
        </p:nvSpPr>
        <p:spPr>
          <a:xfrm>
            <a:off x="566928" y="3108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Forms — Final Recap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65"/>
          <p:cNvSpPr/>
          <p:nvPr/>
        </p:nvSpPr>
        <p:spPr>
          <a:xfrm>
            <a:off x="585216" y="80467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big ideas students should leave with.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65"/>
          <p:cNvSpPr/>
          <p:nvPr/>
        </p:nvSpPr>
        <p:spPr>
          <a:xfrm>
            <a:off x="731520" y="1298448"/>
            <a:ext cx="507492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65"/>
          <p:cNvSpPr/>
          <p:nvPr/>
        </p:nvSpPr>
        <p:spPr>
          <a:xfrm>
            <a:off x="731520" y="1298448"/>
            <a:ext cx="73152" cy="8229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65"/>
          <p:cNvSpPr/>
          <p:nvPr/>
        </p:nvSpPr>
        <p:spPr>
          <a:xfrm>
            <a:off x="960120" y="15087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&lt;form&gt;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65"/>
          <p:cNvSpPr/>
          <p:nvPr/>
        </p:nvSpPr>
        <p:spPr>
          <a:xfrm>
            <a:off x="2240280" y="146304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groups controls and defines submission behaviour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65"/>
          <p:cNvSpPr/>
          <p:nvPr/>
        </p:nvSpPr>
        <p:spPr>
          <a:xfrm>
            <a:off x="6263640" y="1298448"/>
            <a:ext cx="507492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65"/>
          <p:cNvSpPr/>
          <p:nvPr/>
        </p:nvSpPr>
        <p:spPr>
          <a:xfrm>
            <a:off x="6263640" y="1298448"/>
            <a:ext cx="73152" cy="82296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65"/>
          <p:cNvSpPr/>
          <p:nvPr/>
        </p:nvSpPr>
        <p:spPr>
          <a:xfrm>
            <a:off x="6492240" y="15087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65"/>
          <p:cNvSpPr/>
          <p:nvPr/>
        </p:nvSpPr>
        <p:spPr>
          <a:xfrm>
            <a:off x="7772400" y="146304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where the submission goes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65"/>
          <p:cNvSpPr/>
          <p:nvPr/>
        </p:nvSpPr>
        <p:spPr>
          <a:xfrm>
            <a:off x="731520" y="2414016"/>
            <a:ext cx="507492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65"/>
          <p:cNvSpPr/>
          <p:nvPr/>
        </p:nvSpPr>
        <p:spPr>
          <a:xfrm>
            <a:off x="731520" y="2414016"/>
            <a:ext cx="73152" cy="8229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65"/>
          <p:cNvSpPr/>
          <p:nvPr/>
        </p:nvSpPr>
        <p:spPr>
          <a:xfrm>
            <a:off x="960120" y="262432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65"/>
          <p:cNvSpPr/>
          <p:nvPr/>
        </p:nvSpPr>
        <p:spPr>
          <a:xfrm>
            <a:off x="2240280" y="2578608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how the submission is sent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65"/>
          <p:cNvSpPr/>
          <p:nvPr/>
        </p:nvSpPr>
        <p:spPr>
          <a:xfrm>
            <a:off x="6263640" y="2414016"/>
            <a:ext cx="507492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65"/>
          <p:cNvSpPr/>
          <p:nvPr/>
        </p:nvSpPr>
        <p:spPr>
          <a:xfrm>
            <a:off x="6263640" y="2414016"/>
            <a:ext cx="73152" cy="82296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65"/>
          <p:cNvSpPr/>
          <p:nvPr/>
        </p:nvSpPr>
        <p:spPr>
          <a:xfrm>
            <a:off x="6492240" y="262432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65"/>
          <p:cNvSpPr/>
          <p:nvPr/>
        </p:nvSpPr>
        <p:spPr>
          <a:xfrm>
            <a:off x="7772400" y="2578608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query string in the target URL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65"/>
          <p:cNvSpPr/>
          <p:nvPr/>
        </p:nvSpPr>
        <p:spPr>
          <a:xfrm>
            <a:off x="731520" y="3529584"/>
            <a:ext cx="507492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65"/>
          <p:cNvSpPr/>
          <p:nvPr/>
        </p:nvSpPr>
        <p:spPr>
          <a:xfrm>
            <a:off x="731520" y="3529584"/>
            <a:ext cx="73152" cy="8229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65"/>
          <p:cNvSpPr/>
          <p:nvPr/>
        </p:nvSpPr>
        <p:spPr>
          <a:xfrm>
            <a:off x="960120" y="373989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65"/>
          <p:cNvSpPr/>
          <p:nvPr/>
        </p:nvSpPr>
        <p:spPr>
          <a:xfrm>
            <a:off x="2240280" y="3694176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form data in the request body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65"/>
          <p:cNvSpPr/>
          <p:nvPr/>
        </p:nvSpPr>
        <p:spPr>
          <a:xfrm>
            <a:off x="6263640" y="3529584"/>
            <a:ext cx="507492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65"/>
          <p:cNvSpPr/>
          <p:nvPr/>
        </p:nvSpPr>
        <p:spPr>
          <a:xfrm>
            <a:off x="6263640" y="3529584"/>
            <a:ext cx="73152" cy="82296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65"/>
          <p:cNvSpPr/>
          <p:nvPr/>
        </p:nvSpPr>
        <p:spPr>
          <a:xfrm>
            <a:off x="6492240" y="373989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65"/>
          <p:cNvSpPr/>
          <p:nvPr/>
        </p:nvSpPr>
        <p:spPr>
          <a:xfrm>
            <a:off x="7772400" y="3694176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key used for submitted values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65"/>
          <p:cNvSpPr/>
          <p:nvPr/>
        </p:nvSpPr>
        <p:spPr>
          <a:xfrm>
            <a:off x="731520" y="4645152"/>
            <a:ext cx="507492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65"/>
          <p:cNvSpPr/>
          <p:nvPr/>
        </p:nvSpPr>
        <p:spPr>
          <a:xfrm>
            <a:off x="731520" y="4645152"/>
            <a:ext cx="73152" cy="8229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65"/>
          <p:cNvSpPr/>
          <p:nvPr/>
        </p:nvSpPr>
        <p:spPr>
          <a:xfrm>
            <a:off x="960120" y="4855464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65"/>
          <p:cNvSpPr/>
          <p:nvPr/>
        </p:nvSpPr>
        <p:spPr>
          <a:xfrm>
            <a:off x="2240280" y="4809744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browser can enforce HTML constraints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65"/>
          <p:cNvSpPr/>
          <p:nvPr/>
        </p:nvSpPr>
        <p:spPr>
          <a:xfrm>
            <a:off x="6263640" y="4645152"/>
            <a:ext cx="507492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65"/>
          <p:cNvSpPr/>
          <p:nvPr/>
        </p:nvSpPr>
        <p:spPr>
          <a:xfrm>
            <a:off x="6263640" y="4645152"/>
            <a:ext cx="73152" cy="82296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65"/>
          <p:cNvSpPr/>
          <p:nvPr/>
        </p:nvSpPr>
        <p:spPr>
          <a:xfrm>
            <a:off x="6492240" y="4855464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controls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65"/>
          <p:cNvSpPr/>
          <p:nvPr/>
        </p:nvSpPr>
        <p:spPr>
          <a:xfrm>
            <a:off x="7772400" y="4809744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input, select, textarea, radio, checkbox, meter, progress and buttons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65"/>
          <p:cNvSpPr txBox="1"/>
          <p:nvPr>
            <p:ph idx="4294967295" type="sldNum"/>
          </p:nvPr>
        </p:nvSpPr>
        <p:spPr>
          <a:xfrm>
            <a:off x="11658600" y="6464808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